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8FB"/>
          </a:solidFill>
        </a:fill>
      </a:tcStyle>
    </a:wholeTbl>
    <a:band2H>
      <a:tcTxStyle b="def" i="def"/>
      <a:tcStyle>
        <a:tcBdr/>
        <a:fill>
          <a:solidFill>
            <a:srgbClr val="E8ED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8F44A2F1-9E1F-4B54-A3A2-5F16C0AD49E2}" styleName="">
    <a:tblBg/>
    <a:wholeTbl>
      <a:tcTxStyle b="off"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35353"/>
          </a:solidFill>
        </a:fill>
      </a:tcStyle>
    </a:wholeTbl>
    <a:band2H>
      <a:tcTxStyle b="def" i="def"/>
      <a:tcStyle>
        <a:tcBdr/>
        <a:fill>
          <a:solidFill>
            <a:srgbClr val="E3EE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6" name="Shape 106"/>
          <p:cNvSpPr/>
          <p:nvPr>
            <p:ph type="sldImg"/>
          </p:nvPr>
        </p:nvSpPr>
        <p:spPr>
          <a:xfrm>
            <a:off x="1143000" y="685800"/>
            <a:ext cx="4572000" cy="3429000"/>
          </a:xfrm>
          <a:prstGeom prst="rect">
            <a:avLst/>
          </a:prstGeom>
        </p:spPr>
        <p:txBody>
          <a:bodyPr/>
          <a:lstStyle/>
          <a:p>
            <a:pPr/>
          </a:p>
        </p:txBody>
      </p:sp>
      <p:sp>
        <p:nvSpPr>
          <p:cNvPr id="107" name="Shape 10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Optima"/>
      </a:defRPr>
    </a:lvl1pPr>
    <a:lvl2pPr indent="228600" latinLnBrk="0">
      <a:defRPr sz="1400">
        <a:latin typeface="+mn-lt"/>
        <a:ea typeface="+mn-ea"/>
        <a:cs typeface="+mn-cs"/>
        <a:sym typeface="Optima"/>
      </a:defRPr>
    </a:lvl2pPr>
    <a:lvl3pPr indent="457200" latinLnBrk="0">
      <a:defRPr sz="1400">
        <a:latin typeface="+mn-lt"/>
        <a:ea typeface="+mn-ea"/>
        <a:cs typeface="+mn-cs"/>
        <a:sym typeface="Optima"/>
      </a:defRPr>
    </a:lvl3pPr>
    <a:lvl4pPr indent="685800" latinLnBrk="0">
      <a:defRPr sz="1400">
        <a:latin typeface="+mn-lt"/>
        <a:ea typeface="+mn-ea"/>
        <a:cs typeface="+mn-cs"/>
        <a:sym typeface="Optima"/>
      </a:defRPr>
    </a:lvl4pPr>
    <a:lvl5pPr indent="914400" latinLnBrk="0">
      <a:defRPr sz="1400">
        <a:latin typeface="+mn-lt"/>
        <a:ea typeface="+mn-ea"/>
        <a:cs typeface="+mn-cs"/>
        <a:sym typeface="Optima"/>
      </a:defRPr>
    </a:lvl5pPr>
    <a:lvl6pPr indent="1143000" latinLnBrk="0">
      <a:defRPr sz="1400">
        <a:latin typeface="+mn-lt"/>
        <a:ea typeface="+mn-ea"/>
        <a:cs typeface="+mn-cs"/>
        <a:sym typeface="Optima"/>
      </a:defRPr>
    </a:lvl6pPr>
    <a:lvl7pPr indent="1371600" latinLnBrk="0">
      <a:defRPr sz="1400">
        <a:latin typeface="+mn-lt"/>
        <a:ea typeface="+mn-ea"/>
        <a:cs typeface="+mn-cs"/>
        <a:sym typeface="Optima"/>
      </a:defRPr>
    </a:lvl7pPr>
    <a:lvl8pPr indent="1600200" latinLnBrk="0">
      <a:defRPr sz="1400">
        <a:latin typeface="+mn-lt"/>
        <a:ea typeface="+mn-ea"/>
        <a:cs typeface="+mn-cs"/>
        <a:sym typeface="Optima"/>
      </a:defRPr>
    </a:lvl8pPr>
    <a:lvl9pPr indent="1828800" latinLnBrk="0">
      <a:defRPr sz="1400">
        <a:latin typeface="+mn-lt"/>
        <a:ea typeface="+mn-ea"/>
        <a:cs typeface="+mn-cs"/>
        <a:sym typeface="Optima"/>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exte du titre"/>
          <p:cNvSpPr txBox="1"/>
          <p:nvPr>
            <p:ph type="title"/>
          </p:nvPr>
        </p:nvSpPr>
        <p:spPr>
          <a:xfrm>
            <a:off x="311708" y="744574"/>
            <a:ext cx="8520601" cy="2052601"/>
          </a:xfrm>
          <a:prstGeom prst="rect">
            <a:avLst/>
          </a:prstGeom>
        </p:spPr>
        <p:txBody>
          <a:bodyPr anchor="b"/>
          <a:lstStyle>
            <a:lvl1pPr algn="ctr">
              <a:defRPr sz="5200"/>
            </a:lvl1pPr>
          </a:lstStyle>
          <a:p>
            <a:pPr/>
            <a:r>
              <a:t>Texte du titre</a:t>
            </a:r>
          </a:p>
        </p:txBody>
      </p:sp>
      <p:sp>
        <p:nvSpPr>
          <p:cNvPr id="12" name="Texte niveau 1…"/>
          <p:cNvSpPr txBox="1"/>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pPr/>
            <a:r>
              <a:t>Texte niveau 1</a:t>
            </a:r>
          </a:p>
          <a:p>
            <a:pPr lvl="1"/>
            <a:r>
              <a:t>Texte niveau 2</a:t>
            </a:r>
          </a:p>
          <a:p>
            <a:pPr lvl="2"/>
            <a:r>
              <a:t>Texte niveau 3</a:t>
            </a:r>
          </a:p>
          <a:p>
            <a:pPr lvl="3"/>
            <a:r>
              <a:t>Texte niveau 4</a:t>
            </a:r>
          </a:p>
          <a:p>
            <a:pPr lvl="4"/>
            <a:r>
              <a:t>Texte niveau 5</a:t>
            </a:r>
          </a:p>
        </p:txBody>
      </p:sp>
      <p:sp>
        <p:nvSpPr>
          <p:cNvPr id="1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20" name="Texte du titre"/>
          <p:cNvSpPr txBox="1"/>
          <p:nvPr>
            <p:ph type="title"/>
          </p:nvPr>
        </p:nvSpPr>
        <p:spPr>
          <a:prstGeom prst="rect">
            <a:avLst/>
          </a:prstGeom>
        </p:spPr>
        <p:txBody>
          <a:bodyPr/>
          <a:lstStyle/>
          <a:p>
            <a:pPr/>
            <a:r>
              <a:t>Texte du titre</a:t>
            </a:r>
          </a:p>
        </p:txBody>
      </p:sp>
      <p:sp>
        <p:nvSpPr>
          <p:cNvPr id="21" name="Texte niveau 1…"/>
          <p:cNvSpPr txBox="1"/>
          <p:nvPr>
            <p:ph type="body" idx="1"/>
          </p:nvPr>
        </p:nvSpPr>
        <p:spPr>
          <a:prstGeom prst="rect">
            <a:avLst/>
          </a:prstGeom>
        </p:spPr>
        <p:txBody>
          <a:bodyPr/>
          <a:lstStyle/>
          <a:p>
            <a:pPr/>
            <a:r>
              <a:t>Texte niveau 1</a:t>
            </a:r>
          </a:p>
          <a:p>
            <a:pPr lvl="1"/>
            <a:r>
              <a:t>Texte niveau 2</a:t>
            </a:r>
          </a:p>
          <a:p>
            <a:pPr lvl="2"/>
            <a:r>
              <a:t>Texte niveau 3</a:t>
            </a:r>
          </a:p>
          <a:p>
            <a:pPr lvl="3"/>
            <a:r>
              <a:t>Texte niveau 4</a:t>
            </a:r>
          </a:p>
          <a:p>
            <a:pPr lvl="4"/>
            <a:r>
              <a:t>Texte niveau 5</a:t>
            </a:r>
          </a:p>
        </p:txBody>
      </p:sp>
      <p:sp>
        <p:nvSpPr>
          <p:cNvPr id="22"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29" name="Texte du titre"/>
          <p:cNvSpPr txBox="1"/>
          <p:nvPr>
            <p:ph type="title"/>
          </p:nvPr>
        </p:nvSpPr>
        <p:spPr>
          <a:xfrm>
            <a:off x="311699" y="2150849"/>
            <a:ext cx="8520602" cy="841801"/>
          </a:xfrm>
          <a:prstGeom prst="rect">
            <a:avLst/>
          </a:prstGeom>
        </p:spPr>
        <p:txBody>
          <a:bodyPr anchor="ctr"/>
          <a:lstStyle>
            <a:lvl1pPr algn="ctr">
              <a:defRPr sz="3600"/>
            </a:lvl1pPr>
          </a:lstStyle>
          <a:p>
            <a:pPr/>
            <a:r>
              <a:t>Texte du titre</a:t>
            </a:r>
          </a:p>
        </p:txBody>
      </p:sp>
      <p:sp>
        <p:nvSpPr>
          <p:cNvPr id="3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TWO_COLUMNS">
    <p:spTree>
      <p:nvGrpSpPr>
        <p:cNvPr id="1" name=""/>
        <p:cNvGrpSpPr/>
        <p:nvPr/>
      </p:nvGrpSpPr>
      <p:grpSpPr>
        <a:xfrm>
          <a:off x="0" y="0"/>
          <a:ext cx="0" cy="0"/>
          <a:chOff x="0" y="0"/>
          <a:chExt cx="0" cy="0"/>
        </a:xfrm>
      </p:grpSpPr>
      <p:sp>
        <p:nvSpPr>
          <p:cNvPr id="37" name="Texte du titre"/>
          <p:cNvSpPr txBox="1"/>
          <p:nvPr>
            <p:ph type="title"/>
          </p:nvPr>
        </p:nvSpPr>
        <p:spPr>
          <a:prstGeom prst="rect">
            <a:avLst/>
          </a:prstGeom>
        </p:spPr>
        <p:txBody>
          <a:bodyPr/>
          <a:lstStyle/>
          <a:p>
            <a:pPr/>
            <a:r>
              <a:t>Texte du titre</a:t>
            </a:r>
          </a:p>
        </p:txBody>
      </p:sp>
      <p:sp>
        <p:nvSpPr>
          <p:cNvPr id="38" name="Texte niveau 1…"/>
          <p:cNvSpPr txBox="1"/>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pPr/>
            <a:r>
              <a:t>Texte niveau 1</a:t>
            </a:r>
          </a:p>
          <a:p>
            <a:pPr lvl="1"/>
            <a:r>
              <a:t>Texte niveau 2</a:t>
            </a:r>
          </a:p>
          <a:p>
            <a:pPr lvl="2"/>
            <a:r>
              <a:t>Texte niveau 3</a:t>
            </a:r>
          </a:p>
          <a:p>
            <a:pPr lvl="3"/>
            <a:r>
              <a:t>Texte niveau 4</a:t>
            </a:r>
          </a:p>
          <a:p>
            <a:pPr lvl="4"/>
            <a:r>
              <a:t>Texte niveau 5</a:t>
            </a:r>
          </a:p>
        </p:txBody>
      </p:sp>
      <p:sp>
        <p:nvSpPr>
          <p:cNvPr id="39" name="Google Shape;23;p13"/>
          <p:cNvSpPr txBox="1"/>
          <p:nvPr>
            <p:ph type="body" sz="half" idx="21"/>
          </p:nvPr>
        </p:nvSpPr>
        <p:spPr>
          <a:xfrm>
            <a:off x="4832399" y="1152475"/>
            <a:ext cx="3999902" cy="3416400"/>
          </a:xfrm>
          <a:prstGeom prst="rect">
            <a:avLst/>
          </a:prstGeom>
        </p:spPr>
        <p:txBody>
          <a:bodyPr/>
          <a:lstStyle/>
          <a:p>
            <a:pPr indent="-317500">
              <a:buSzPts val="1400"/>
              <a:defRPr sz="1400"/>
            </a:pPr>
          </a:p>
        </p:txBody>
      </p:sp>
      <p:sp>
        <p:nvSpPr>
          <p:cNvPr id="4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47" name="Texte du titre"/>
          <p:cNvSpPr txBox="1"/>
          <p:nvPr>
            <p:ph type="title"/>
          </p:nvPr>
        </p:nvSpPr>
        <p:spPr>
          <a:prstGeom prst="rect">
            <a:avLst/>
          </a:prstGeom>
        </p:spPr>
        <p:txBody>
          <a:bodyPr/>
          <a:lstStyle/>
          <a:p>
            <a:pPr/>
            <a:r>
              <a:t>Texte du titre</a:t>
            </a:r>
          </a:p>
        </p:txBody>
      </p:sp>
      <p:sp>
        <p:nvSpPr>
          <p:cNvPr id="48"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NE_COLUMN_TEXT">
    <p:spTree>
      <p:nvGrpSpPr>
        <p:cNvPr id="1" name=""/>
        <p:cNvGrpSpPr/>
        <p:nvPr/>
      </p:nvGrpSpPr>
      <p:grpSpPr>
        <a:xfrm>
          <a:off x="0" y="0"/>
          <a:ext cx="0" cy="0"/>
          <a:chOff x="0" y="0"/>
          <a:chExt cx="0" cy="0"/>
        </a:xfrm>
      </p:grpSpPr>
      <p:sp>
        <p:nvSpPr>
          <p:cNvPr id="55" name="Texte du titre"/>
          <p:cNvSpPr txBox="1"/>
          <p:nvPr>
            <p:ph type="title"/>
          </p:nvPr>
        </p:nvSpPr>
        <p:spPr>
          <a:xfrm>
            <a:off x="311699" y="555600"/>
            <a:ext cx="2808001" cy="755700"/>
          </a:xfrm>
          <a:prstGeom prst="rect">
            <a:avLst/>
          </a:prstGeom>
        </p:spPr>
        <p:txBody>
          <a:bodyPr anchor="b"/>
          <a:lstStyle>
            <a:lvl1pPr>
              <a:defRPr sz="2400"/>
            </a:lvl1pPr>
          </a:lstStyle>
          <a:p>
            <a:pPr/>
            <a:r>
              <a:t>Texte du titre</a:t>
            </a:r>
          </a:p>
        </p:txBody>
      </p:sp>
      <p:sp>
        <p:nvSpPr>
          <p:cNvPr id="56" name="Texte niveau 1…"/>
          <p:cNvSpPr txBox="1"/>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pPr/>
            <a:r>
              <a:t>Texte niveau 1</a:t>
            </a:r>
          </a:p>
          <a:p>
            <a:pPr lvl="1"/>
            <a:r>
              <a:t>Texte niveau 2</a:t>
            </a:r>
          </a:p>
          <a:p>
            <a:pPr lvl="2"/>
            <a:r>
              <a:t>Texte niveau 3</a:t>
            </a:r>
          </a:p>
          <a:p>
            <a:pPr lvl="3"/>
            <a:r>
              <a:t>Texte niveau 4</a:t>
            </a:r>
          </a:p>
          <a:p>
            <a:pPr lvl="4"/>
            <a:r>
              <a:t>Texte niveau 5</a:t>
            </a:r>
          </a:p>
        </p:txBody>
      </p:sp>
      <p:sp>
        <p:nvSpPr>
          <p:cNvPr id="57"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IN_POINT">
    <p:spTree>
      <p:nvGrpSpPr>
        <p:cNvPr id="1" name=""/>
        <p:cNvGrpSpPr/>
        <p:nvPr/>
      </p:nvGrpSpPr>
      <p:grpSpPr>
        <a:xfrm>
          <a:off x="0" y="0"/>
          <a:ext cx="0" cy="0"/>
          <a:chOff x="0" y="0"/>
          <a:chExt cx="0" cy="0"/>
        </a:xfrm>
      </p:grpSpPr>
      <p:sp>
        <p:nvSpPr>
          <p:cNvPr id="64" name="Texte du titre"/>
          <p:cNvSpPr txBox="1"/>
          <p:nvPr>
            <p:ph type="title"/>
          </p:nvPr>
        </p:nvSpPr>
        <p:spPr>
          <a:xfrm>
            <a:off x="490250" y="450149"/>
            <a:ext cx="6367801" cy="4090801"/>
          </a:xfrm>
          <a:prstGeom prst="rect">
            <a:avLst/>
          </a:prstGeom>
        </p:spPr>
        <p:txBody>
          <a:bodyPr anchor="ctr"/>
          <a:lstStyle>
            <a:lvl1pPr>
              <a:defRPr sz="4800"/>
            </a:lvl1pPr>
          </a:lstStyle>
          <a:p>
            <a:pPr/>
            <a:r>
              <a:t>Texte du titre</a:t>
            </a:r>
          </a:p>
        </p:txBody>
      </p:sp>
      <p:sp>
        <p:nvSpPr>
          <p:cNvPr id="65"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TITLE_AND_DESCRIPTION">
    <p:spTree>
      <p:nvGrpSpPr>
        <p:cNvPr id="1" name=""/>
        <p:cNvGrpSpPr/>
        <p:nvPr/>
      </p:nvGrpSpPr>
      <p:grpSpPr>
        <a:xfrm>
          <a:off x="0" y="0"/>
          <a:ext cx="0" cy="0"/>
          <a:chOff x="0" y="0"/>
          <a:chExt cx="0" cy="0"/>
        </a:xfrm>
      </p:grpSpPr>
      <p:sp>
        <p:nvSpPr>
          <p:cNvPr id="72" name="Google Shape;36;p17"/>
          <p:cNvSpPr/>
          <p:nvPr/>
        </p:nvSpPr>
        <p:spPr>
          <a:xfrm>
            <a:off x="4572000" y="-125"/>
            <a:ext cx="4572000" cy="5143501"/>
          </a:xfrm>
          <a:prstGeom prst="rect">
            <a:avLst/>
          </a:prstGeom>
          <a:solidFill>
            <a:srgbClr val="EEEEEE"/>
          </a:solidFill>
          <a:ln w="12700">
            <a:miter lim="400000"/>
          </a:ln>
        </p:spPr>
        <p:txBody>
          <a:bodyPr lIns="45719" rIns="45719" anchor="ctr"/>
          <a:lstStyle/>
          <a:p>
            <a:pPr/>
          </a:p>
        </p:txBody>
      </p:sp>
      <p:sp>
        <p:nvSpPr>
          <p:cNvPr id="73" name="Texte du titre"/>
          <p:cNvSpPr txBox="1"/>
          <p:nvPr>
            <p:ph type="title"/>
          </p:nvPr>
        </p:nvSpPr>
        <p:spPr>
          <a:xfrm>
            <a:off x="265500" y="1233175"/>
            <a:ext cx="4045200" cy="1482301"/>
          </a:xfrm>
          <a:prstGeom prst="rect">
            <a:avLst/>
          </a:prstGeom>
        </p:spPr>
        <p:txBody>
          <a:bodyPr anchor="b"/>
          <a:lstStyle>
            <a:lvl1pPr algn="ctr">
              <a:defRPr sz="4200"/>
            </a:lvl1pPr>
          </a:lstStyle>
          <a:p>
            <a:pPr/>
            <a:r>
              <a:t>Texte du titre</a:t>
            </a:r>
          </a:p>
        </p:txBody>
      </p:sp>
      <p:sp>
        <p:nvSpPr>
          <p:cNvPr id="74" name="Texte niveau 1…"/>
          <p:cNvSpPr txBox="1"/>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pPr/>
            <a:r>
              <a:t>Texte niveau 1</a:t>
            </a:r>
          </a:p>
          <a:p>
            <a:pPr lvl="1"/>
            <a:r>
              <a:t>Texte niveau 2</a:t>
            </a:r>
          </a:p>
          <a:p>
            <a:pPr lvl="2"/>
            <a:r>
              <a:t>Texte niveau 3</a:t>
            </a:r>
          </a:p>
          <a:p>
            <a:pPr lvl="3"/>
            <a:r>
              <a:t>Texte niveau 4</a:t>
            </a:r>
          </a:p>
          <a:p>
            <a:pPr lvl="4"/>
            <a:r>
              <a:t>Texte niveau 5</a:t>
            </a:r>
          </a:p>
        </p:txBody>
      </p:sp>
      <p:sp>
        <p:nvSpPr>
          <p:cNvPr id="75" name="Google Shape;39;p17"/>
          <p:cNvSpPr txBox="1"/>
          <p:nvPr>
            <p:ph type="body" sz="half" idx="21"/>
          </p:nvPr>
        </p:nvSpPr>
        <p:spPr>
          <a:xfrm>
            <a:off x="4939500" y="724074"/>
            <a:ext cx="3837000" cy="3695102"/>
          </a:xfrm>
          <a:prstGeom prst="rect">
            <a:avLst/>
          </a:prstGeom>
        </p:spPr>
        <p:txBody>
          <a:bodyPr anchor="ctr"/>
          <a:lstStyle/>
          <a:p>
            <a:pPr/>
          </a:p>
        </p:txBody>
      </p:sp>
      <p:sp>
        <p:nvSpPr>
          <p:cNvPr id="76"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83" name="Texte niveau 1…"/>
          <p:cNvSpPr txBox="1"/>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pPr/>
            <a:r>
              <a:t>Texte niveau 1</a:t>
            </a:r>
          </a:p>
          <a:p>
            <a:pPr lvl="1"/>
            <a:r>
              <a:t>Texte niveau 2</a:t>
            </a:r>
          </a:p>
          <a:p>
            <a:pPr lvl="2"/>
            <a:r>
              <a:t>Texte niveau 3</a:t>
            </a:r>
          </a:p>
          <a:p>
            <a:pPr lvl="3"/>
            <a:r>
              <a:t>Texte niveau 4</a:t>
            </a:r>
          </a:p>
          <a:p>
            <a:pPr lvl="4"/>
            <a:r>
              <a:t>Texte niveau 5</a:t>
            </a:r>
          </a:p>
        </p:txBody>
      </p:sp>
      <p:sp>
        <p:nvSpPr>
          <p:cNvPr id="84"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_NUMBER">
    <p:spTree>
      <p:nvGrpSpPr>
        <p:cNvPr id="1" name=""/>
        <p:cNvGrpSpPr/>
        <p:nvPr/>
      </p:nvGrpSpPr>
      <p:grpSpPr>
        <a:xfrm>
          <a:off x="0" y="0"/>
          <a:ext cx="0" cy="0"/>
          <a:chOff x="0" y="0"/>
          <a:chExt cx="0" cy="0"/>
        </a:xfrm>
      </p:grpSpPr>
      <p:sp>
        <p:nvSpPr>
          <p:cNvPr id="91" name="xx%"/>
          <p:cNvSpPr txBox="1"/>
          <p:nvPr>
            <p:ph type="title" hasCustomPrompt="1"/>
          </p:nvPr>
        </p:nvSpPr>
        <p:spPr>
          <a:xfrm>
            <a:off x="311699" y="1106125"/>
            <a:ext cx="8520602" cy="1963500"/>
          </a:xfrm>
          <a:prstGeom prst="rect">
            <a:avLst/>
          </a:prstGeom>
        </p:spPr>
        <p:txBody>
          <a:bodyPr anchor="b"/>
          <a:lstStyle>
            <a:lvl1pPr algn="ctr">
              <a:defRPr sz="12000"/>
            </a:lvl1pPr>
          </a:lstStyle>
          <a:p>
            <a:pPr/>
            <a:r>
              <a:t>xx%</a:t>
            </a:r>
          </a:p>
        </p:txBody>
      </p:sp>
      <p:sp>
        <p:nvSpPr>
          <p:cNvPr id="92" name="Texte niveau 1…"/>
          <p:cNvSpPr txBox="1"/>
          <p:nvPr>
            <p:ph type="body" sz="half" idx="1"/>
          </p:nvPr>
        </p:nvSpPr>
        <p:spPr>
          <a:xfrm>
            <a:off x="311699" y="3152225"/>
            <a:ext cx="8520602" cy="1300800"/>
          </a:xfrm>
          <a:prstGeom prst="rect">
            <a:avLst/>
          </a:prstGeom>
        </p:spPr>
        <p:txBody>
          <a:bodyPr/>
          <a:lstStyle>
            <a:lvl1pPr algn="ctr"/>
            <a:lvl2pPr algn="ctr"/>
            <a:lvl3pPr algn="ctr"/>
            <a:lvl4pPr algn="ctr"/>
            <a:lvl5pPr algn="ctr"/>
          </a:lstStyle>
          <a:p>
            <a:pPr/>
            <a:r>
              <a:t>Texte niveau 1</a:t>
            </a:r>
          </a:p>
          <a:p>
            <a:pPr lvl="1"/>
            <a:r>
              <a:t>Texte niveau 2</a:t>
            </a:r>
          </a:p>
          <a:p>
            <a:pPr lvl="2"/>
            <a:r>
              <a:t>Texte niveau 3</a:t>
            </a:r>
          </a:p>
          <a:p>
            <a:pPr lvl="3"/>
            <a:r>
              <a:t>Texte niveau 4</a:t>
            </a:r>
          </a:p>
          <a:p>
            <a:pPr lvl="4"/>
            <a:r>
              <a:t>Texte niveau 5</a:t>
            </a:r>
          </a:p>
        </p:txBody>
      </p:sp>
      <p:sp>
        <p:nvSpPr>
          <p:cNvPr id="93"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00"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Texte du titre</a:t>
            </a:r>
          </a:p>
        </p:txBody>
      </p:sp>
      <p:sp>
        <p:nvSpPr>
          <p:cNvPr id="3" name="Texte niveau 1…"/>
          <p:cNvSpPr txBox="1"/>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8684383" y="4693979"/>
            <a:ext cx="336775" cy="332076"/>
          </a:xfrm>
          <a:prstGeom prst="rect">
            <a:avLst/>
          </a:prstGeom>
          <a:ln w="12700">
            <a:miter lim="400000"/>
          </a:ln>
        </p:spPr>
        <p:txBody>
          <a:bodyPr wrap="none" lIns="91424" tIns="91424" rIns="91424" bIns="91424" anchor="ctr">
            <a:normAutofit fontScale="100000" lnSpcReduction="0"/>
          </a:bodyPr>
          <a:lstStyle>
            <a:lvl1pPr algn="r">
              <a:defRPr sz="1000">
                <a:solidFill>
                  <a:schemeClr val="accent2">
                    <a:lumOff val="21764"/>
                  </a:schemeClr>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1pPr>
      <a:lvl2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2pPr>
      <a:lvl3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3pPr>
      <a:lvl4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4pPr>
      <a:lvl5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5pPr>
      <a:lvl6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6pPr>
      <a:lvl7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7pPr>
      <a:lvl8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8pPr>
      <a:lvl9pPr marL="0" marR="0" indent="0" algn="l" defTabSz="914400" rtl="0" latinLnBrk="0">
        <a:lnSpc>
          <a:spcPct val="100000"/>
        </a:lnSpc>
        <a:spcBef>
          <a:spcPts val="0"/>
        </a:spcBef>
        <a:spcAft>
          <a:spcPts val="0"/>
        </a:spcAft>
        <a:buClrTx/>
        <a:buSzTx/>
        <a:buFontTx/>
        <a:buNone/>
        <a:tabLst/>
        <a:defRPr b="0" baseline="0" cap="none" i="0" spc="0" strike="noStrike" sz="2800" u="none">
          <a:solidFill>
            <a:srgbClr val="000000"/>
          </a:solidFill>
          <a:uFillTx/>
          <a:latin typeface="+mn-lt"/>
          <a:ea typeface="+mn-ea"/>
          <a:cs typeface="+mn-cs"/>
          <a:sym typeface="Optima"/>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Optima"/>
        <a:buChar char="■"/>
        <a:tabLst/>
        <a:defRPr b="0" baseline="0" cap="none" i="0" spc="0" strike="noStrike" sz="1800" u="none">
          <a:solidFill>
            <a:schemeClr val="accent2">
              <a:lumOff val="21764"/>
            </a:schemeClr>
          </a:solidFill>
          <a:uFillTx/>
          <a:latin typeface="+mn-lt"/>
          <a:ea typeface="+mn-ea"/>
          <a:cs typeface="+mn-cs"/>
          <a:sym typeface="Optim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1pPr>
      <a:lvl2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2pPr>
      <a:lvl3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3pPr>
      <a:lvl4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4pPr>
      <a:lvl5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5pPr>
      <a:lvl6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6pPr>
      <a:lvl7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7pPr>
      <a:lvl8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8pPr>
      <a:lvl9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Optim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Google Shape;54;p1"/>
          <p:cNvSpPr/>
          <p:nvPr/>
        </p:nvSpPr>
        <p:spPr>
          <a:xfrm>
            <a:off x="0" y="0"/>
            <a:ext cx="9144000" cy="5143500"/>
          </a:xfrm>
          <a:prstGeom prst="rect">
            <a:avLst/>
          </a:prstGeom>
          <a:solidFill>
            <a:srgbClr val="004D40"/>
          </a:solidFill>
          <a:ln>
            <a:solidFill>
              <a:schemeClr val="accent2">
                <a:lumOff val="21764"/>
              </a:schemeClr>
            </a:solidFill>
          </a:ln>
        </p:spPr>
        <p:txBody>
          <a:bodyPr lIns="45719" rIns="45719" anchor="ctr"/>
          <a:lstStyle/>
          <a:p>
            <a:pPr/>
          </a:p>
        </p:txBody>
      </p:sp>
      <p:sp>
        <p:nvSpPr>
          <p:cNvPr id="110" name="Google Shape;55;p1"/>
          <p:cNvSpPr txBox="1"/>
          <p:nvPr/>
        </p:nvSpPr>
        <p:spPr>
          <a:xfrm>
            <a:off x="580349" y="2289799"/>
            <a:ext cx="7983302" cy="8940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886968">
              <a:lnSpc>
                <a:spcPct val="90000"/>
              </a:lnSpc>
              <a:defRPr sz="4656">
                <a:solidFill>
                  <a:srgbClr val="F3F3F3"/>
                </a:solidFill>
              </a:defRPr>
            </a:lvl1pPr>
          </a:lstStyle>
          <a:p>
            <a:pPr/>
            <a:r>
              <a:t>Bottleneck</a:t>
            </a:r>
          </a:p>
        </p:txBody>
      </p:sp>
      <p:sp>
        <p:nvSpPr>
          <p:cNvPr id="111" name="Google Shape;58;p1"/>
          <p:cNvSpPr txBox="1"/>
          <p:nvPr/>
        </p:nvSpPr>
        <p:spPr>
          <a:xfrm>
            <a:off x="5717706" y="4475021"/>
            <a:ext cx="3167197" cy="422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gn="ctr">
              <a:lnSpc>
                <a:spcPct val="80000"/>
              </a:lnSpc>
              <a:defRPr>
                <a:solidFill>
                  <a:srgbClr val="FFFFFF"/>
                </a:solidFill>
              </a:defRPr>
            </a:lvl1pPr>
          </a:lstStyle>
          <a:p>
            <a:pPr/>
            <a:r>
              <a:t>JF Dubroca - Data Analyst - Avril 2025</a:t>
            </a:r>
          </a:p>
        </p:txBody>
      </p:sp>
      <p:sp>
        <p:nvSpPr>
          <p:cNvPr id="112" name="Google Shape;55;p1"/>
          <p:cNvSpPr txBox="1"/>
          <p:nvPr/>
        </p:nvSpPr>
        <p:spPr>
          <a:xfrm>
            <a:off x="580349" y="903768"/>
            <a:ext cx="7983302" cy="8940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normAutofit fontScale="100000" lnSpcReduction="0"/>
          </a:bodyPr>
          <a:lstStyle>
            <a:lvl1pPr algn="ctr" defTabSz="886968">
              <a:lnSpc>
                <a:spcPct val="90000"/>
              </a:lnSpc>
              <a:defRPr sz="4656">
                <a:solidFill>
                  <a:srgbClr val="F3F3F3"/>
                </a:solidFill>
              </a:defRPr>
            </a:lvl1pPr>
          </a:lstStyle>
          <a:p>
            <a:pPr/>
            <a:r>
              <a:t>Analyse des ventes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Google Shape;103;g13f9e8f1567_0_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15" name="Google Shape;104;g13f9e8f1567_0_7"/>
          <p:cNvSpPr txBox="1"/>
          <p:nvPr/>
        </p:nvSpPr>
        <p:spPr>
          <a:xfrm>
            <a:off x="895524" y="337250"/>
            <a:ext cx="4811066"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Erreurs et corrections apportées</a:t>
            </a:r>
          </a:p>
        </p:txBody>
      </p:sp>
      <p:sp>
        <p:nvSpPr>
          <p:cNvPr id="116" name="Google Shape;105;g13f9e8f1567_0_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graphicFrame>
        <p:nvGraphicFramePr>
          <p:cNvPr id="117" name="Tableau 1"/>
          <p:cNvGraphicFramePr/>
          <p:nvPr/>
        </p:nvGraphicFramePr>
        <p:xfrm>
          <a:off x="63500" y="1447800"/>
          <a:ext cx="9029700" cy="3624757"/>
        </p:xfrm>
        <a:graphic xmlns:a="http://schemas.openxmlformats.org/drawingml/2006/main">
          <a:graphicData uri="http://schemas.openxmlformats.org/drawingml/2006/table">
            <a:tbl>
              <a:tblPr firstCol="0" firstRow="0" lastCol="0" lastRow="0" bandCol="0" bandRow="1" rtl="0">
                <a:tableStyleId>{8F44A2F1-9E1F-4B54-A3A2-5F16C0AD49E2}</a:tableStyleId>
              </a:tblPr>
              <a:tblGrid>
                <a:gridCol w="982036"/>
                <a:gridCol w="5029297"/>
                <a:gridCol w="3005666"/>
              </a:tblGrid>
              <a:tr h="562292">
                <a:tc>
                  <a:txBody>
                    <a:bodyPr/>
                    <a:lstStyle/>
                    <a:p>
                      <a:pPr algn="l">
                        <a:defRPr sz="1800">
                          <a:solidFill>
                            <a:srgbClr val="000000"/>
                          </a:solidFill>
                        </a:defRPr>
                      </a:pPr>
                      <a:r>
                        <a:rPr sz="1400">
                          <a:solidFill>
                            <a:srgbClr val="FFFFFF"/>
                          </a:solidFill>
                        </a:rPr>
                        <a:t>Table </a:t>
                      </a:r>
                    </a:p>
                  </a:txBody>
                  <a:tcPr marL="0" marR="0" marT="0" marB="0" anchor="t" anchorCtr="0" horzOverflow="overflow"/>
                </a:tc>
                <a:tc>
                  <a:txBody>
                    <a:bodyPr/>
                    <a:lstStyle/>
                    <a:p>
                      <a:pPr algn="l">
                        <a:defRPr sz="1800">
                          <a:solidFill>
                            <a:srgbClr val="000000"/>
                          </a:solidFill>
                        </a:defRPr>
                      </a:pPr>
                      <a:r>
                        <a:rPr sz="1400">
                          <a:solidFill>
                            <a:srgbClr val="FFFFFF"/>
                          </a:solidFill>
                        </a:rPr>
                        <a:t>Incohérence</a:t>
                      </a:r>
                    </a:p>
                  </a:txBody>
                  <a:tcPr marL="0" marR="0" marT="0" marB="0" anchor="t" anchorCtr="0" horzOverflow="overflow"/>
                </a:tc>
                <a:tc>
                  <a:txBody>
                    <a:bodyPr/>
                    <a:lstStyle/>
                    <a:p>
                      <a:pPr algn="l">
                        <a:defRPr sz="1800">
                          <a:solidFill>
                            <a:srgbClr val="000000"/>
                          </a:solidFill>
                        </a:defRPr>
                      </a:pPr>
                      <a:r>
                        <a:rPr sz="1400">
                          <a:solidFill>
                            <a:srgbClr val="FFFFFF"/>
                          </a:solidFill>
                        </a:rPr>
                        <a:t>Correction </a:t>
                      </a:r>
                    </a:p>
                  </a:txBody>
                  <a:tcPr marL="0" marR="0" marT="0" marB="0" anchor="t" anchorCtr="0" horzOverflow="overflow"/>
                </a:tc>
              </a:tr>
              <a:tr h="1438928">
                <a:tc>
                  <a:txBody>
                    <a:bodyPr/>
                    <a:lstStyle/>
                    <a:p>
                      <a:pPr algn="l">
                        <a:defRPr sz="1800">
                          <a:solidFill>
                            <a:srgbClr val="000000"/>
                          </a:solidFill>
                        </a:defRPr>
                      </a:pPr>
                      <a:r>
                        <a:rPr sz="1400">
                          <a:solidFill>
                            <a:schemeClr val="accent2">
                              <a:lumOff val="-2588"/>
                            </a:schemeClr>
                          </a:solidFill>
                        </a:rPr>
                        <a:t>ERP</a:t>
                      </a:r>
                    </a:p>
                  </a:txBody>
                  <a:tcPr marL="0" marR="0" marT="0" marB="0" anchor="t" anchorCtr="0" horzOverflow="overflow">
                    <a:solidFill>
                      <a:srgbClr val="CCCCCC"/>
                    </a:solidFill>
                  </a:tcPr>
                </a:tc>
                <a:tc>
                  <a:txBody>
                    <a:bodyPr/>
                    <a:lstStyle/>
                    <a:p>
                      <a:pPr algn="l">
                        <a:defRPr sz="1800">
                          <a:solidFill>
                            <a:srgbClr val="000000"/>
                          </a:solidFill>
                        </a:defRPr>
                      </a:pPr>
                      <a:r>
                        <a:rPr sz="1100">
                          <a:solidFill>
                            <a:schemeClr val="accent2">
                              <a:lumOff val="-2588"/>
                            </a:schemeClr>
                          </a:solidFill>
                        </a:rPr>
                        <a:t> - Incohérence entre la quantité en stock et le statut du stock (instock, outofstock)
 - Prix négatifs
 - Stock négatif
 - Purchase_price stocké sous forme de texte
 - Un prix d’achat supérieur au prix de vente</a:t>
                      </a:r>
                    </a:p>
                  </a:txBody>
                  <a:tcPr marL="0" marR="0" marT="0" marB="0" anchor="t" anchorCtr="0" horzOverflow="overflow">
                    <a:solidFill>
                      <a:srgbClr val="CCCCCC"/>
                    </a:solidFill>
                  </a:tcPr>
                </a:tc>
                <a:tc>
                  <a:txBody>
                    <a:bodyPr/>
                    <a:lstStyle/>
                    <a:p>
                      <a:pPr algn="l">
                        <a:defRPr sz="1800">
                          <a:solidFill>
                            <a:srgbClr val="000000"/>
                          </a:solidFill>
                        </a:defRPr>
                      </a:pPr>
                      <a:r>
                        <a:rPr sz="1100">
                          <a:solidFill>
                            <a:schemeClr val="accent2">
                              <a:lumOff val="-2588"/>
                            </a:schemeClr>
                          </a:solidFill>
                        </a:rPr>
                        <a:t> - Modification des statuts de stock en fonction des quantités stockées: quantité en stock = 0 → statut de stock = outofstock
 - Convertis en positif
 - Modifié à 0 avec modification de leur statut de stock
 - Mis sous forme de nombreux 
 - Voir avec l’équipe qui détermine les prix</a:t>
                      </a:r>
                    </a:p>
                  </a:txBody>
                  <a:tcPr marL="0" marR="0" marT="0" marB="0" anchor="t" anchorCtr="0" horzOverflow="overflow">
                    <a:solidFill>
                      <a:srgbClr val="CCCCCC"/>
                    </a:solidFill>
                  </a:tcPr>
                </a:tc>
              </a:tr>
              <a:tr h="1249537">
                <a:tc>
                  <a:txBody>
                    <a:bodyPr/>
                    <a:lstStyle/>
                    <a:p>
                      <a:pPr algn="l">
                        <a:defRPr sz="1800">
                          <a:solidFill>
                            <a:srgbClr val="000000"/>
                          </a:solidFill>
                        </a:defRPr>
                      </a:pPr>
                      <a:r>
                        <a:rPr sz="1400">
                          <a:solidFill>
                            <a:schemeClr val="accent2">
                              <a:lumOff val="-2588"/>
                            </a:schemeClr>
                          </a:solidFill>
                        </a:rPr>
                        <a:t>WEB</a:t>
                      </a:r>
                    </a:p>
                  </a:txBody>
                  <a:tcPr marL="0" marR="0" marT="0" marB="0" anchor="t" anchorCtr="0" horzOverflow="overflow">
                    <a:solidFill>
                      <a:srgbClr val="E6E6E6"/>
                    </a:solidFill>
                  </a:tcPr>
                </a:tc>
                <a:tc>
                  <a:txBody>
                    <a:bodyPr/>
                    <a:lstStyle/>
                    <a:p>
                      <a:pPr algn="l">
                        <a:defRPr sz="1800">
                          <a:solidFill>
                            <a:srgbClr val="000000"/>
                          </a:solidFill>
                        </a:defRPr>
                      </a:pPr>
                      <a:r>
                        <a:rPr sz="1100">
                          <a:solidFill>
                            <a:schemeClr val="accent2">
                              <a:lumOff val="-2588"/>
                            </a:schemeClr>
                          </a:solidFill>
                        </a:rPr>
                        <a:t> - Colonnes ne comportant aucune donnée (11)
 - Valeurs nulles dans la colonne ‘SKU’
 - Les lignes sont doublées
 - Dates stockées sous forme de texte
 - Après nettoyage, une valeur nulle subsiste</a:t>
                      </a:r>
                    </a:p>
                  </a:txBody>
                  <a:tcPr marL="0" marR="0" marT="0" marB="0" anchor="t" anchorCtr="0" horzOverflow="overflow">
                    <a:solidFill>
                      <a:srgbClr val="E6E6E6"/>
                    </a:solidFill>
                  </a:tcPr>
                </a:tc>
                <a:tc>
                  <a:txBody>
                    <a:bodyPr/>
                    <a:lstStyle/>
                    <a:p>
                      <a:pPr algn="l">
                        <a:defRPr sz="1800">
                          <a:solidFill>
                            <a:srgbClr val="000000"/>
                          </a:solidFill>
                        </a:defRPr>
                      </a:pPr>
                      <a:r>
                        <a:rPr sz="1100">
                          <a:solidFill>
                            <a:schemeClr val="accent2">
                              <a:lumOff val="-2588"/>
                            </a:schemeClr>
                          </a:solidFill>
                        </a:rPr>
                        <a:t> - Suppression de ces colonnes
 - Suppression de ces lignes 
 - Suppression des lignes ne contenant pas d’information importante (description de l’article)
 - Converties au format Date
 - Remplacement par sa valeur la plus probable</a:t>
                      </a:r>
                    </a:p>
                  </a:txBody>
                  <a:tcPr marL="0" marR="0" marT="0" marB="0" anchor="t" anchorCtr="0" horzOverflow="overflow">
                    <a:solidFill>
                      <a:srgbClr val="E6E6E6"/>
                    </a:solidFill>
                  </a:tcPr>
                </a:tc>
              </a:tr>
              <a:tr h="364065">
                <a:tc>
                  <a:txBody>
                    <a:bodyPr/>
                    <a:lstStyle/>
                    <a:p>
                      <a:pPr algn="l">
                        <a:defRPr sz="1800">
                          <a:solidFill>
                            <a:srgbClr val="000000"/>
                          </a:solidFill>
                        </a:defRPr>
                      </a:pPr>
                      <a:r>
                        <a:rPr sz="1400">
                          <a:solidFill>
                            <a:schemeClr val="accent2">
                              <a:lumOff val="-2588"/>
                            </a:schemeClr>
                          </a:solidFill>
                        </a:rPr>
                        <a:t>LIAISON</a:t>
                      </a:r>
                    </a:p>
                  </a:txBody>
                  <a:tcPr marL="0" marR="0" marT="0" marB="0" anchor="t" anchorCtr="0" horzOverflow="overflow">
                    <a:solidFill>
                      <a:srgbClr val="F3F3F3"/>
                    </a:solidFill>
                  </a:tcPr>
                </a:tc>
                <a:tc>
                  <a:txBody>
                    <a:bodyPr/>
                    <a:lstStyle/>
                    <a:p>
                      <a:pPr algn="l">
                        <a:defRPr sz="1800">
                          <a:solidFill>
                            <a:srgbClr val="000000"/>
                          </a:solidFill>
                        </a:defRPr>
                      </a:pPr>
                      <a:r>
                        <a:rPr sz="1100">
                          <a:solidFill>
                            <a:schemeClr val="accent2">
                              <a:lumOff val="-2588"/>
                            </a:schemeClr>
                          </a:solidFill>
                        </a:rPr>
                        <a:t> - La colonne id_web contient 91 valeurs nulles</a:t>
                      </a:r>
                    </a:p>
                  </a:txBody>
                  <a:tcPr marL="0" marR="0" marT="0" marB="0" anchor="t" anchorCtr="0" horzOverflow="overflow">
                    <a:solidFill>
                      <a:srgbClr val="F3F3F3"/>
                    </a:solidFill>
                  </a:tcPr>
                </a:tc>
                <a:tc>
                  <a:txBody>
                    <a:bodyPr/>
                    <a:lstStyle/>
                    <a:p>
                      <a:pPr algn="l">
                        <a:defRPr sz="1800">
                          <a:solidFill>
                            <a:srgbClr val="000000"/>
                          </a:solidFill>
                        </a:defRPr>
                      </a:pPr>
                      <a:r>
                        <a:rPr sz="1100">
                          <a:solidFill>
                            <a:schemeClr val="accent2">
                              <a:lumOff val="-2588"/>
                            </a:schemeClr>
                          </a:solidFill>
                        </a:rPr>
                        <a:t> - Suppression de ces lignes qui nous seront inutiles</a:t>
                      </a:r>
                    </a:p>
                  </a:txBody>
                  <a:tcPr marL="0" marR="0" marT="0" marB="0" anchor="t" anchorCtr="0" horzOverflow="overflow">
                    <a:solidFill>
                      <a:srgbClr val="F3F3F3"/>
                    </a:solidFill>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Google Shape;64;p4"/>
          <p:cNvSpPr/>
          <p:nvPr/>
        </p:nvSpPr>
        <p:spPr>
          <a:xfrm>
            <a:off x="0" y="-1"/>
            <a:ext cx="9144000" cy="1390202"/>
          </a:xfrm>
          <a:prstGeom prst="rect">
            <a:avLst/>
          </a:prstGeom>
          <a:solidFill>
            <a:srgbClr val="004D40"/>
          </a:solidFill>
          <a:ln>
            <a:solidFill>
              <a:srgbClr val="FFFFFF"/>
            </a:solidFill>
          </a:ln>
          <a:effectLst>
            <a:outerShdw sx="100000" sy="100000" kx="0" ky="0" algn="b" rotWithShape="0" blurRad="63500" dist="19050" dir="5400000">
              <a:srgbClr val="000000">
                <a:alpha val="49803"/>
              </a:srgbClr>
            </a:outerShdw>
          </a:effectLst>
        </p:spPr>
        <p:txBody>
          <a:bodyPr lIns="45719" rIns="45719" anchor="ctr"/>
          <a:lstStyle/>
          <a:p>
            <a:pPr/>
          </a:p>
        </p:txBody>
      </p:sp>
      <p:sp>
        <p:nvSpPr>
          <p:cNvPr id="120" name="Google Shape;65;p4"/>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Analyses Exploratoires des Données </a:t>
            </a:r>
          </a:p>
        </p:txBody>
      </p:sp>
      <p:sp>
        <p:nvSpPr>
          <p:cNvPr id="121" name="Google Shape;66;p4"/>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graphicFrame>
        <p:nvGraphicFramePr>
          <p:cNvPr id="122" name="Tableau 1"/>
          <p:cNvGraphicFramePr/>
          <p:nvPr/>
        </p:nvGraphicFramePr>
        <p:xfrm>
          <a:off x="63500" y="1445762"/>
          <a:ext cx="9156700" cy="3760599"/>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833729"/>
                <a:gridCol w="2674770"/>
                <a:gridCol w="2254250"/>
                <a:gridCol w="2254250"/>
              </a:tblGrid>
              <a:tr h="351324">
                <a:tc>
                  <a:txBody>
                    <a:bodyPr/>
                    <a:lstStyle/>
                    <a:p>
                      <a:pPr algn="l">
                        <a:defRPr sz="1800"/>
                      </a:pPr>
                      <a:r>
                        <a:rPr b="1" sz="1400">
                          <a:solidFill>
                            <a:srgbClr val="FFFFFF"/>
                          </a:solidFill>
                        </a:rPr>
                        <a:t>Données disponibles</a:t>
                      </a:r>
                    </a:p>
                  </a:txBody>
                  <a:tcPr marL="0" marR="0" marT="0" marB="0" anchor="ctr" anchorCtr="0" horzOverflow="overflow">
                    <a:solidFill>
                      <a:srgbClr val="424242"/>
                    </a:solidFill>
                  </a:tcPr>
                </a:tc>
                <a:tc>
                  <a:txBody>
                    <a:bodyPr/>
                    <a:lstStyle/>
                    <a:p>
                      <a:pPr algn="ctr">
                        <a:defRPr sz="1800"/>
                      </a:pPr>
                      <a:r>
                        <a:rPr b="1" sz="1400">
                          <a:solidFill>
                            <a:srgbClr val="FFFFFF"/>
                          </a:solidFill>
                        </a:rPr>
                        <a:t>Fichier ERP</a:t>
                      </a:r>
                    </a:p>
                  </a:txBody>
                  <a:tcPr marL="0" marR="0" marT="0" marB="0" anchor="ctr" anchorCtr="0" horzOverflow="overflow">
                    <a:solidFill>
                      <a:srgbClr val="424242"/>
                    </a:solidFill>
                  </a:tcPr>
                </a:tc>
                <a:tc>
                  <a:txBody>
                    <a:bodyPr/>
                    <a:lstStyle/>
                    <a:p>
                      <a:pPr algn="ctr">
                        <a:defRPr sz="1800"/>
                      </a:pPr>
                      <a:r>
                        <a:rPr b="1" sz="1400">
                          <a:solidFill>
                            <a:srgbClr val="FFFFFF"/>
                          </a:solidFill>
                        </a:rPr>
                        <a:t>Fichier WEB</a:t>
                      </a:r>
                    </a:p>
                  </a:txBody>
                  <a:tcPr marL="0" marR="0" marT="0" marB="0" anchor="ctr" anchorCtr="0" horzOverflow="overflow">
                    <a:solidFill>
                      <a:srgbClr val="424242"/>
                    </a:solidFill>
                  </a:tcPr>
                </a:tc>
                <a:tc>
                  <a:txBody>
                    <a:bodyPr/>
                    <a:lstStyle/>
                    <a:p>
                      <a:pPr algn="ctr">
                        <a:defRPr sz="1800"/>
                      </a:pPr>
                      <a:r>
                        <a:rPr b="1" sz="1400">
                          <a:solidFill>
                            <a:srgbClr val="FFFFFF"/>
                          </a:solidFill>
                        </a:rPr>
                        <a:t>Fichier LIAISON</a:t>
                      </a:r>
                    </a:p>
                  </a:txBody>
                  <a:tcPr marL="0" marR="0" marT="0" marB="0" anchor="ctr" anchorCtr="0" horzOverflow="overflow">
                    <a:solidFill>
                      <a:srgbClr val="424242"/>
                    </a:solidFill>
                  </a:tcPr>
                </a:tc>
              </a:tr>
              <a:tr h="796969">
                <a:tc>
                  <a:txBody>
                    <a:bodyPr/>
                    <a:lstStyle/>
                    <a:p>
                      <a:pPr algn="l">
                        <a:defRPr sz="1800"/>
                      </a:pPr>
                      <a:r>
                        <a:rPr b="1" sz="1400"/>
                        <a:t>Caractéristiques</a:t>
                      </a:r>
                    </a:p>
                  </a:txBody>
                  <a:tcPr marL="0" marR="0" marT="0" marB="0" anchor="t" anchorCtr="0" horzOverflow="overflow">
                    <a:solidFill>
                      <a:srgbClr val="C2C2C2"/>
                    </a:solidFill>
                  </a:tcPr>
                </a:tc>
                <a:tc>
                  <a:txBody>
                    <a:bodyPr/>
                    <a:lstStyle/>
                    <a:p>
                      <a:pPr algn="l">
                        <a:defRPr b="1" sz="1100" u="sng"/>
                      </a:pPr>
                      <a:r>
                        <a:t>Catalogue des produits</a:t>
                      </a:r>
                    </a:p>
                    <a:p>
                      <a:pPr marL="211889" indent="-110289" algn="l">
                        <a:buSzPct val="100000"/>
                        <a:buChar char="•"/>
                        <a:defRPr sz="1100"/>
                      </a:pPr>
                      <a:r>
                        <a:t>prix de vente</a:t>
                      </a:r>
                    </a:p>
                    <a:p>
                      <a:pPr marL="211889" indent="-110289" algn="l">
                        <a:buSzPct val="100000"/>
                        <a:buChar char="•"/>
                        <a:defRPr sz="1100"/>
                      </a:pPr>
                      <a:r>
                        <a:t>prix d’achat</a:t>
                      </a:r>
                    </a:p>
                    <a:p>
                      <a:pPr marL="211889" indent="-110289" algn="l">
                        <a:buSzPct val="100000"/>
                        <a:buChar char="•"/>
                        <a:defRPr sz="1100"/>
                      </a:pPr>
                      <a:r>
                        <a:t>quantité en stock… </a:t>
                      </a:r>
                    </a:p>
                  </a:txBody>
                  <a:tcPr marL="0" marR="0" marT="0" marB="0" anchor="t" anchorCtr="0" horzOverflow="overflow">
                    <a:solidFill>
                      <a:srgbClr val="C2C2C2"/>
                    </a:solidFill>
                  </a:tcPr>
                </a:tc>
                <a:tc>
                  <a:txBody>
                    <a:bodyPr/>
                    <a:lstStyle/>
                    <a:p>
                      <a:pPr algn="l">
                        <a:defRPr b="1" sz="1100" u="sng"/>
                      </a:pPr>
                      <a:r>
                        <a:t>Ventes des articles</a:t>
                      </a:r>
                    </a:p>
                    <a:p>
                      <a:pPr marL="215900" indent="-114300" algn="l">
                        <a:buSzPct val="100000"/>
                        <a:buChar char="•"/>
                        <a:defRPr sz="1100"/>
                      </a:pPr>
                      <a:r>
                        <a:t>nombre de vente</a:t>
                      </a:r>
                    </a:p>
                    <a:p>
                      <a:pPr marL="215900" indent="-114300" algn="l">
                        <a:buSzPct val="100000"/>
                        <a:buChar char="•"/>
                        <a:defRPr sz="1100"/>
                      </a:pPr>
                      <a:r>
                        <a:t>nom et description de l’article</a:t>
                      </a:r>
                    </a:p>
                    <a:p>
                      <a:pPr marL="215900" indent="-114300" algn="l">
                        <a:buSzPct val="100000"/>
                        <a:buChar char="•"/>
                        <a:defRPr sz="1100"/>
                      </a:pPr>
                      <a:r>
                        <a:t>type de l’article…. </a:t>
                      </a:r>
                    </a:p>
                  </a:txBody>
                  <a:tcPr marL="0" marR="0" marT="0" marB="0" anchor="t" anchorCtr="0" horzOverflow="overflow">
                    <a:solidFill>
                      <a:srgbClr val="C2C2C2"/>
                    </a:solidFill>
                  </a:tcPr>
                </a:tc>
                <a:tc>
                  <a:txBody>
                    <a:bodyPr/>
                    <a:lstStyle/>
                    <a:p>
                      <a:pPr algn="l">
                        <a:defRPr b="1" sz="1100" u="sng"/>
                      </a:pPr>
                      <a:r>
                        <a:t>Liaison entre ERP et WEB</a:t>
                      </a:r>
                    </a:p>
                    <a:p>
                      <a:pPr algn="l">
                        <a:defRPr sz="1100"/>
                      </a:pPr>
                      <a:r>
                        <a:t>Correspondance entre les identifiants </a:t>
                      </a:r>
                      <a:r>
                        <a:rPr i="1"/>
                        <a:t>sku</a:t>
                      </a:r>
                      <a:r>
                        <a:t> de WEB et </a:t>
                      </a:r>
                      <a:r>
                        <a:rPr i="1"/>
                        <a:t>product_id </a:t>
                      </a:r>
                      <a:r>
                        <a:t>de ERP</a:t>
                      </a:r>
                    </a:p>
                  </a:txBody>
                  <a:tcPr marL="0" marR="0" marT="0" marB="0" anchor="t" anchorCtr="0" horzOverflow="overflow">
                    <a:solidFill>
                      <a:srgbClr val="C2C2C2"/>
                    </a:solidFill>
                  </a:tcPr>
                </a:tc>
              </a:tr>
              <a:tr h="1750437">
                <a:tc>
                  <a:txBody>
                    <a:bodyPr/>
                    <a:lstStyle/>
                    <a:p>
                      <a:pPr algn="l">
                        <a:defRPr sz="1800"/>
                      </a:pPr>
                      <a:r>
                        <a:rPr b="1" sz="1400"/>
                        <a:t>Traitement réalisés</a:t>
                      </a:r>
                    </a:p>
                  </a:txBody>
                  <a:tcPr marL="0" marR="0" marT="0" marB="0" anchor="t" anchorCtr="0" horzOverflow="overflow">
                    <a:solidFill>
                      <a:srgbClr val="E0E0E0"/>
                    </a:solidFill>
                  </a:tcPr>
                </a:tc>
                <a:tc>
                  <a:txBody>
                    <a:bodyPr/>
                    <a:lstStyle/>
                    <a:p>
                      <a:pPr marL="114300" indent="-114300" algn="l">
                        <a:buSzPct val="100000"/>
                        <a:buChar char="•"/>
                        <a:defRPr sz="1100"/>
                      </a:pPr>
                      <a:r>
                        <a:t>Mise en cohérence des statuts de stock en regard des quantités en stock</a:t>
                      </a:r>
                    </a:p>
                    <a:p>
                      <a:pPr marL="114300" indent="-114300" algn="l">
                        <a:buSzPct val="100000"/>
                        <a:buChar char="•"/>
                        <a:defRPr sz="1100"/>
                      </a:pPr>
                      <a:r>
                        <a:t>Ajustement des prix et quantité en stock négatif</a:t>
                      </a:r>
                    </a:p>
                    <a:p>
                      <a:pPr marL="114300" indent="-114300" algn="l">
                        <a:buSzPct val="100000"/>
                        <a:buChar char="•"/>
                        <a:defRPr sz="1100"/>
                      </a:pPr>
                      <a:r>
                        <a:t>Conversion en nombre des prix de vente</a:t>
                      </a:r>
                    </a:p>
                  </a:txBody>
                  <a:tcPr marL="0" marR="0" marT="0" marB="0" anchor="t" anchorCtr="0" horzOverflow="overflow">
                    <a:solidFill>
                      <a:srgbClr val="E0E0E0"/>
                    </a:solidFill>
                  </a:tcPr>
                </a:tc>
                <a:tc>
                  <a:txBody>
                    <a:bodyPr/>
                    <a:lstStyle/>
                    <a:p>
                      <a:pPr marL="114300" indent="-114300" algn="l">
                        <a:buSzPct val="100000"/>
                        <a:buChar char="•"/>
                        <a:defRPr sz="1100"/>
                      </a:pPr>
                      <a:r>
                        <a:t>Suppression des lignes et des colonnes ne contenant aucune données</a:t>
                      </a:r>
                    </a:p>
                    <a:p>
                      <a:pPr marL="114300" indent="-114300" algn="l">
                        <a:buSzPct val="100000"/>
                        <a:buChar char="•"/>
                        <a:defRPr sz="1100"/>
                      </a:pPr>
                      <a:r>
                        <a:t>Suppression des lignes en double</a:t>
                      </a:r>
                    </a:p>
                    <a:p>
                      <a:pPr marL="114300" indent="-114300" algn="l">
                        <a:buSzPct val="100000"/>
                        <a:buChar char="•"/>
                        <a:defRPr sz="1100"/>
                      </a:pPr>
                      <a:r>
                        <a:t>Conversion des dates en format Date</a:t>
                      </a:r>
                    </a:p>
                    <a:p>
                      <a:pPr marL="114300" indent="-114300" algn="l">
                        <a:buSzPct val="100000"/>
                        <a:buChar char="•"/>
                        <a:defRPr sz="1100"/>
                      </a:pPr>
                      <a:r>
                        <a:t>Modification d’une valeur nulle de l’identifiant SKU par sa valeur</a:t>
                      </a:r>
                    </a:p>
                  </a:txBody>
                  <a:tcPr marL="0" marR="0" marT="0" marB="0" anchor="t" anchorCtr="0" horzOverflow="overflow">
                    <a:solidFill>
                      <a:srgbClr val="E0E0E0"/>
                    </a:solidFill>
                  </a:tcPr>
                </a:tc>
                <a:tc>
                  <a:txBody>
                    <a:bodyPr/>
                    <a:lstStyle/>
                    <a:p>
                      <a:pPr algn="l">
                        <a:defRPr sz="1800"/>
                      </a:pPr>
                      <a:r>
                        <a:rPr sz="1100"/>
                        <a:t>Suppression de lignes ne contenant aucune d’information.</a:t>
                      </a:r>
                    </a:p>
                  </a:txBody>
                  <a:tcPr marL="0" marR="0" marT="0" marB="0" anchor="t" anchorCtr="0" horzOverflow="overflow">
                    <a:solidFill>
                      <a:srgbClr val="E0E0E0"/>
                    </a:solidFill>
                  </a:tcPr>
                </a:tc>
              </a:tr>
              <a:tr h="796969">
                <a:tc>
                  <a:txBody>
                    <a:bodyPr/>
                    <a:lstStyle/>
                    <a:p>
                      <a:pPr algn="l">
                        <a:defRPr sz="1800"/>
                      </a:pPr>
                      <a:r>
                        <a:rPr b="1" sz="1400"/>
                        <a:t>Commentaires</a:t>
                      </a:r>
                    </a:p>
                  </a:txBody>
                  <a:tcPr marL="0" marR="0" marT="0" marB="0" anchor="t" anchorCtr="0" horzOverflow="overflow">
                    <a:solidFill>
                      <a:srgbClr val="F0F0F0"/>
                    </a:solidFill>
                  </a:tcPr>
                </a:tc>
                <a:tc>
                  <a:txBody>
                    <a:bodyPr/>
                    <a:lstStyle/>
                    <a:p>
                      <a:pPr algn="l">
                        <a:defRPr sz="1100"/>
                      </a:pPr>
                    </a:p>
                  </a:txBody>
                  <a:tcPr marL="0" marR="0" marT="0" marB="0" anchor="t" anchorCtr="0" horzOverflow="overflow">
                    <a:solidFill>
                      <a:srgbClr val="F0F0F0"/>
                    </a:solidFill>
                  </a:tcPr>
                </a:tc>
                <a:tc>
                  <a:txBody>
                    <a:bodyPr/>
                    <a:lstStyle/>
                    <a:p>
                      <a:pPr algn="l">
                        <a:defRPr sz="1800"/>
                      </a:pPr>
                      <a:r>
                        <a:rPr sz="1100"/>
                        <a:t>Recherche d’une logique dans les identifiants ‘SKU’</a:t>
                      </a:r>
                    </a:p>
                  </a:txBody>
                  <a:tcPr marL="0" marR="0" marT="0" marB="0" anchor="t" anchorCtr="0" horzOverflow="overflow">
                    <a:solidFill>
                      <a:srgbClr val="F0F0F0"/>
                    </a:solidFill>
                  </a:tcPr>
                </a:tc>
                <a:tc>
                  <a:txBody>
                    <a:bodyPr/>
                    <a:lstStyle/>
                    <a:p>
                      <a:pPr indent="50800" algn="l">
                        <a:defRPr sz="1100"/>
                      </a:pPr>
                    </a:p>
                  </a:txBody>
                  <a:tcPr marL="0" marR="0" marT="0" marB="0" anchor="t" anchorCtr="0" horzOverflow="overflow">
                    <a:solidFill>
                      <a:srgbClr val="F0F0F0"/>
                    </a:solidFill>
                  </a:tcPr>
                </a:tc>
              </a:tr>
            </a:tbl>
          </a:graphicData>
        </a:graphic>
      </p:graphicFrame>
      <p:sp>
        <p:nvSpPr>
          <p:cNvPr id="123" name="Cette étude ne concerne que le mois d’octobre"/>
          <p:cNvSpPr txBox="1"/>
          <p:nvPr/>
        </p:nvSpPr>
        <p:spPr>
          <a:xfrm>
            <a:off x="2726372" y="4761524"/>
            <a:ext cx="3691256" cy="302897"/>
          </a:xfrm>
          <a:prstGeom prst="rect">
            <a:avLst/>
          </a:prstGeom>
          <a:solidFill>
            <a:srgbClr val="424242"/>
          </a:solidFill>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FFFFFF"/>
                </a:solidFill>
              </a:defRPr>
            </a:lvl1pPr>
          </a:lstStyle>
          <a:p>
            <a:pPr/>
            <a:r>
              <a:t>Cette étude ne concerne que le mois d’octobre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Google Shape;72;p5"/>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26" name="Google Shape;73;p5"/>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Fusion ou consolidations des données</a:t>
            </a:r>
          </a:p>
        </p:txBody>
      </p:sp>
      <p:sp>
        <p:nvSpPr>
          <p:cNvPr id="127" name="Google Shape;74;p5"/>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28" name="Difficultés rencontrées…"/>
          <p:cNvSpPr/>
          <p:nvPr/>
        </p:nvSpPr>
        <p:spPr>
          <a:xfrm>
            <a:off x="4697589" y="2419350"/>
            <a:ext cx="4318001" cy="2100535"/>
          </a:xfrm>
          <a:prstGeom prst="roundRect">
            <a:avLst>
              <a:gd name="adj" fmla="val 9069"/>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p>
            <a:pPr>
              <a:defRPr>
                <a:solidFill>
                  <a:srgbClr val="1E4C40"/>
                </a:solidFill>
              </a:defRPr>
            </a:pPr>
            <a:r>
              <a:t>Difficultés rencontrées</a:t>
            </a:r>
          </a:p>
          <a:p>
            <a:pPr marL="254000" indent="-127000">
              <a:defRPr>
                <a:solidFill>
                  <a:srgbClr val="1E4C40"/>
                </a:solidFill>
              </a:defRPr>
            </a:pPr>
            <a:r>
              <a:t>Décision de suppression des lignes pour lesquelles sku était nul qui contenaient tout de même des informations</a:t>
            </a:r>
          </a:p>
          <a:p>
            <a:pPr indent="127000">
              <a:defRPr>
                <a:solidFill>
                  <a:srgbClr val="1E4C40"/>
                </a:solidFill>
              </a:defRPr>
            </a:pPr>
            <a:r>
              <a:t>Identification d’une logique de création de sku</a:t>
            </a:r>
          </a:p>
          <a:p>
            <a:pPr marL="254000" indent="-127000">
              <a:defRPr>
                <a:solidFill>
                  <a:srgbClr val="1E4C40"/>
                </a:solidFill>
              </a:defRPr>
            </a:pPr>
            <a:r>
              <a:t>Décision de conserver les prix outliers (essentiellement des vins et des champagnes grand cru)</a:t>
            </a:r>
          </a:p>
        </p:txBody>
      </p:sp>
      <p:sp>
        <p:nvSpPr>
          <p:cNvPr id="129" name="Vigilances particulières…"/>
          <p:cNvSpPr/>
          <p:nvPr/>
        </p:nvSpPr>
        <p:spPr>
          <a:xfrm>
            <a:off x="127000" y="2419350"/>
            <a:ext cx="4318000" cy="2100535"/>
          </a:xfrm>
          <a:prstGeom prst="roundRect">
            <a:avLst>
              <a:gd name="adj" fmla="val 9069"/>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p>
            <a:pPr>
              <a:defRPr>
                <a:solidFill>
                  <a:srgbClr val="1E4C40"/>
                </a:solidFill>
              </a:defRPr>
            </a:pPr>
            <a:r>
              <a:t>Vigilances particulières</a:t>
            </a:r>
          </a:p>
          <a:p>
            <a:pPr indent="127000">
              <a:defRPr>
                <a:solidFill>
                  <a:srgbClr val="1E4C40"/>
                </a:solidFill>
              </a:defRPr>
            </a:pPr>
            <a:r>
              <a:t>Valeurs négatives</a:t>
            </a:r>
          </a:p>
          <a:p>
            <a:pPr indent="127000">
              <a:defRPr>
                <a:solidFill>
                  <a:srgbClr val="1E4C40"/>
                </a:solidFill>
              </a:defRPr>
            </a:pPr>
            <a:r>
              <a:t>Valeurs inexistantes</a:t>
            </a:r>
          </a:p>
          <a:p>
            <a:pPr indent="127000">
              <a:defRPr>
                <a:solidFill>
                  <a:srgbClr val="1E4C40"/>
                </a:solidFill>
              </a:defRPr>
            </a:pPr>
            <a:r>
              <a:t>Doublons</a:t>
            </a:r>
          </a:p>
          <a:p>
            <a:pPr lvl="3" marL="254000" indent="-127000">
              <a:defRPr>
                <a:solidFill>
                  <a:srgbClr val="1E4C40"/>
                </a:solidFill>
              </a:defRPr>
            </a:pPr>
            <a:r>
              <a:t>Cohérence entre les colonnes (statut de stock et     quantité en stock)</a:t>
            </a:r>
          </a:p>
          <a:p>
            <a:pPr indent="127000">
              <a:defRPr>
                <a:solidFill>
                  <a:srgbClr val="1E4C40"/>
                </a:solidFill>
              </a:defRPr>
            </a:pPr>
            <a:r>
              <a:t>Correspondance des clés </a:t>
            </a:r>
          </a:p>
          <a:p>
            <a:pPr indent="127000">
              <a:defRPr>
                <a:solidFill>
                  <a:srgbClr val="1E4C40"/>
                </a:solidFill>
              </a:defRPr>
            </a:pPr>
            <a:r>
              <a:t>Un champagne présente un taux de marge négatif</a:t>
            </a:r>
          </a:p>
          <a:p>
            <a:pPr indent="127000">
              <a:defRPr>
                <a:solidFill>
                  <a:srgbClr val="1E4C40"/>
                </a:solidFill>
              </a:defRPr>
            </a:pPr>
            <a:r>
              <a:t>Exploration des prix outliers</a:t>
            </a:r>
          </a:p>
        </p:txBody>
      </p:sp>
      <p:sp>
        <p:nvSpPr>
          <p:cNvPr id="130" name="Clés utilisées: sku de WEB et product_id de ERP"/>
          <p:cNvSpPr/>
          <p:nvPr/>
        </p:nvSpPr>
        <p:spPr>
          <a:xfrm>
            <a:off x="4697589" y="1514234"/>
            <a:ext cx="4318001" cy="655248"/>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p>
            <a:pPr>
              <a:defRPr>
                <a:solidFill>
                  <a:srgbClr val="1E4C40"/>
                </a:solidFill>
              </a:defRPr>
            </a:pPr>
            <a:r>
              <a:t>Clés utilisées: </a:t>
            </a:r>
            <a:r>
              <a:rPr i="1"/>
              <a:t>sku</a:t>
            </a:r>
            <a:r>
              <a:t> de WEB et </a:t>
            </a:r>
            <a:r>
              <a:rPr i="1"/>
              <a:t>product_id</a:t>
            </a:r>
            <a:r>
              <a:t> de ERP</a:t>
            </a:r>
          </a:p>
        </p:txBody>
      </p:sp>
      <p:sp>
        <p:nvSpPr>
          <p:cNvPr id="131" name="Seules les colonnes contenant des informations ont été conservées"/>
          <p:cNvSpPr/>
          <p:nvPr/>
        </p:nvSpPr>
        <p:spPr>
          <a:xfrm>
            <a:off x="127000" y="1514234"/>
            <a:ext cx="4318000" cy="655248"/>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defRPr>
                <a:solidFill>
                  <a:srgbClr val="1E4C40"/>
                </a:solidFill>
              </a:defRPr>
            </a:lvl1pPr>
          </a:lstStyle>
          <a:p>
            <a:pPr/>
            <a:r>
              <a:t>Seules les colonnes contenant des informations ont été conservées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Google Shape;80;p6"/>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34" name="Google Shape;81;p6"/>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Analyses univariées du prix</a:t>
            </a:r>
          </a:p>
        </p:txBody>
      </p:sp>
      <p:sp>
        <p:nvSpPr>
          <p:cNvPr id="135" name="Google Shape;82;p6"/>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pic>
        <p:nvPicPr>
          <p:cNvPr id="136" name="vidéo-collée.png" descr="vidéo-collée.png"/>
          <p:cNvPicPr>
            <a:picLocks noChangeAspect="1"/>
          </p:cNvPicPr>
          <p:nvPr/>
        </p:nvPicPr>
        <p:blipFill>
          <a:blip r:embed="rId2">
            <a:extLst/>
          </a:blip>
          <a:stretch>
            <a:fillRect/>
          </a:stretch>
        </p:blipFill>
        <p:spPr>
          <a:xfrm>
            <a:off x="4654646" y="2749550"/>
            <a:ext cx="4361427" cy="2262269"/>
          </a:xfrm>
          <a:prstGeom prst="rect">
            <a:avLst/>
          </a:prstGeom>
          <a:ln w="12700">
            <a:miter lim="400000"/>
          </a:ln>
        </p:spPr>
      </p:pic>
      <p:sp>
        <p:nvSpPr>
          <p:cNvPr id="137" name="On remarque une grande disparité dans les prix"/>
          <p:cNvSpPr txBox="1"/>
          <p:nvPr/>
        </p:nvSpPr>
        <p:spPr>
          <a:xfrm>
            <a:off x="143586" y="2749550"/>
            <a:ext cx="3747975" cy="30289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On remarque une grande disparité dans les prix</a:t>
            </a:r>
          </a:p>
        </p:txBody>
      </p:sp>
      <p:sp>
        <p:nvSpPr>
          <p:cNvPr id="138" name="Quelle clientèle souhaitons nous toucher?"/>
          <p:cNvSpPr/>
          <p:nvPr/>
        </p:nvSpPr>
        <p:spPr>
          <a:xfrm>
            <a:off x="2316948" y="1513633"/>
            <a:ext cx="4510104" cy="655249"/>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sz="1800">
                <a:solidFill>
                  <a:srgbClr val="1E4C40"/>
                </a:solidFill>
              </a:defRPr>
            </a:lvl1pPr>
          </a:lstStyle>
          <a:p>
            <a:pPr/>
            <a:r>
              <a:t>Quelle clientèle souhaitons nous toucher? </a:t>
            </a:r>
          </a:p>
        </p:txBody>
      </p:sp>
      <p:sp>
        <p:nvSpPr>
          <p:cNvPr id="139" name="75% sont inférieurs à 42€ (minimum 5,2€)…"/>
          <p:cNvSpPr txBox="1"/>
          <p:nvPr/>
        </p:nvSpPr>
        <p:spPr>
          <a:xfrm>
            <a:off x="143586" y="3075192"/>
            <a:ext cx="3562529" cy="193662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140000"/>
              </a:lnSpc>
            </a:pPr>
            <a:r>
              <a:t>75% sont inférieurs à 42€ (minimum 5,2€)</a:t>
            </a:r>
          </a:p>
          <a:p>
            <a:pPr>
              <a:lnSpc>
                <a:spcPct val="140000"/>
              </a:lnSpc>
            </a:pPr>
            <a:r>
              <a:t>4,4% sont supérieurs à 84€ (maximum 225€)</a:t>
            </a:r>
          </a:p>
          <a:p>
            <a:pPr>
              <a:lnSpc>
                <a:spcPct val="140000"/>
              </a:lnSpc>
            </a:pPr>
            <a:r>
              <a:t>Prix de vente moyen: 32,28€</a:t>
            </a:r>
          </a:p>
          <a:p>
            <a:pPr/>
            <a:r>
              <a:t>Seuil de prix minimum qui s’écarte</a:t>
            </a:r>
          </a:p>
          <a:p>
            <a:pPr>
              <a:lnSpc>
                <a:spcPct val="140000"/>
              </a:lnSpc>
            </a:pPr>
            <a:r>
              <a:t> vraiment de la moyenne: 114€</a:t>
            </a:r>
          </a:p>
          <a:p>
            <a:pPr/>
            <a:r>
              <a:t>Les outliers représentent environ 11% du CA </a:t>
            </a:r>
          </a:p>
          <a:p>
            <a:pPr/>
            <a:r>
              <a:t> et du bénéfice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Google Shape;80;p6"/>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42" name="Google Shape;81;p6"/>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Rapport entre nombre de vente et prix de vente</a:t>
            </a:r>
          </a:p>
        </p:txBody>
      </p:sp>
      <p:sp>
        <p:nvSpPr>
          <p:cNvPr id="143" name="Google Shape;82;p6"/>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44" name="Relation entre le prix et le nombre de vente"/>
          <p:cNvSpPr/>
          <p:nvPr/>
        </p:nvSpPr>
        <p:spPr>
          <a:xfrm>
            <a:off x="127927" y="1527287"/>
            <a:ext cx="4318001" cy="655249"/>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a:solidFill>
                  <a:srgbClr val="1E4C40"/>
                </a:solidFill>
              </a:defRPr>
            </a:lvl1pPr>
          </a:lstStyle>
          <a:p>
            <a:pPr/>
            <a:r>
              <a:t>Relation entre le prix et le nombre de vente</a:t>
            </a:r>
          </a:p>
        </p:txBody>
      </p:sp>
      <p:sp>
        <p:nvSpPr>
          <p:cNvPr id="145" name="Focus sur le vin"/>
          <p:cNvSpPr/>
          <p:nvPr/>
        </p:nvSpPr>
        <p:spPr>
          <a:xfrm>
            <a:off x="4695762" y="1527287"/>
            <a:ext cx="4318001" cy="655249"/>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a:solidFill>
                  <a:srgbClr val="1E4C40"/>
                </a:solidFill>
              </a:defRPr>
            </a:lvl1pPr>
          </a:lstStyle>
          <a:p>
            <a:pPr/>
            <a:r>
              <a:t>Focus sur le vin</a:t>
            </a:r>
          </a:p>
        </p:txBody>
      </p:sp>
      <p:pic>
        <p:nvPicPr>
          <p:cNvPr id="146" name="vidéo-collée.png" descr="vidéo-collée.png"/>
          <p:cNvPicPr>
            <a:picLocks noChangeAspect="1"/>
          </p:cNvPicPr>
          <p:nvPr/>
        </p:nvPicPr>
        <p:blipFill>
          <a:blip r:embed="rId2">
            <a:extLst/>
          </a:blip>
          <a:stretch>
            <a:fillRect/>
          </a:stretch>
        </p:blipFill>
        <p:spPr>
          <a:xfrm>
            <a:off x="4683062" y="2518358"/>
            <a:ext cx="4318001" cy="2501770"/>
          </a:xfrm>
          <a:prstGeom prst="rect">
            <a:avLst/>
          </a:prstGeom>
          <a:ln w="12700">
            <a:miter lim="400000"/>
          </a:ln>
        </p:spPr>
      </p:pic>
      <p:pic>
        <p:nvPicPr>
          <p:cNvPr id="147" name="vidéo-collée.png" descr="vidéo-collée.png"/>
          <p:cNvPicPr>
            <a:picLocks noChangeAspect="0"/>
          </p:cNvPicPr>
          <p:nvPr/>
        </p:nvPicPr>
        <p:blipFill>
          <a:blip r:embed="rId3">
            <a:extLst/>
          </a:blip>
          <a:stretch>
            <a:fillRect/>
          </a:stretch>
        </p:blipFill>
        <p:spPr>
          <a:xfrm>
            <a:off x="140627" y="2518358"/>
            <a:ext cx="4318001" cy="2501901"/>
          </a:xfrm>
          <a:prstGeom prst="rect">
            <a:avLst/>
          </a:prstGeom>
          <a:ln w="12700">
            <a:miter lim="400000"/>
          </a:ln>
        </p:spPr>
      </p:pic>
      <p:sp>
        <p:nvSpPr>
          <p:cNvPr id="148" name="Les produits les moins chers se vendent le mieux (inférieur à 25€), leurs taux de marge est moyen (entre 50% et 60%)"/>
          <p:cNvSpPr txBox="1"/>
          <p:nvPr/>
        </p:nvSpPr>
        <p:spPr>
          <a:xfrm>
            <a:off x="2446007" y="2571750"/>
            <a:ext cx="1364104" cy="124364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Les produits les moins chers se vendent le mieux (inférieur à 25€), leurs taux de marge est moyen (entre 50% et 60%)</a:t>
            </a:r>
          </a:p>
        </p:txBody>
      </p:sp>
      <p:sp>
        <p:nvSpPr>
          <p:cNvPr id="149" name="Le vin se vend le mieux avec un taux de marge assez élevé"/>
          <p:cNvSpPr txBox="1"/>
          <p:nvPr/>
        </p:nvSpPr>
        <p:spPr>
          <a:xfrm>
            <a:off x="6994599" y="2571750"/>
            <a:ext cx="1364105" cy="74834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Le vin se vend le mieux avec un taux de marge assez élevé</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1" name="newplot (1).png" descr="newplot (1).png"/>
          <p:cNvPicPr>
            <a:picLocks noChangeAspect="0"/>
          </p:cNvPicPr>
          <p:nvPr/>
        </p:nvPicPr>
        <p:blipFill>
          <a:blip r:embed="rId2">
            <a:extLst/>
          </a:blip>
          <a:stretch>
            <a:fillRect/>
          </a:stretch>
        </p:blipFill>
        <p:spPr>
          <a:xfrm>
            <a:off x="127000" y="1511300"/>
            <a:ext cx="4356100" cy="3505200"/>
          </a:xfrm>
          <a:prstGeom prst="rect">
            <a:avLst/>
          </a:prstGeom>
          <a:ln w="12700">
            <a:miter lim="400000"/>
          </a:ln>
        </p:spPr>
      </p:pic>
      <p:sp>
        <p:nvSpPr>
          <p:cNvPr id="152"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53" name="Google Shape;88;p7"/>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nSpc>
                <a:spcPct val="80000"/>
              </a:lnSpc>
              <a:defRPr sz="2500">
                <a:solidFill>
                  <a:srgbClr val="F3F3F3"/>
                </a:solidFill>
              </a:defRPr>
            </a:lvl1pPr>
          </a:lstStyle>
          <a:p>
            <a:pPr/>
            <a:r>
              <a:t>Analyse du Chiffre d’Affaire</a:t>
            </a:r>
          </a:p>
        </p:txBody>
      </p:sp>
      <p:sp>
        <p:nvSpPr>
          <p:cNvPr id="154"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55" name="Chiffre d’affaire total 143 680 €"/>
          <p:cNvSpPr/>
          <p:nvPr/>
        </p:nvSpPr>
        <p:spPr>
          <a:xfrm>
            <a:off x="4752717" y="1518001"/>
            <a:ext cx="4254887" cy="655248"/>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sz="1800">
                <a:solidFill>
                  <a:srgbClr val="1E4C40"/>
                </a:solidFill>
              </a:defRPr>
            </a:lvl1pPr>
          </a:lstStyle>
          <a:p>
            <a:pPr/>
            <a:r>
              <a:t>Chiffre d’affaire total 143 680 €</a:t>
            </a:r>
          </a:p>
        </p:txBody>
      </p:sp>
      <p:sp>
        <p:nvSpPr>
          <p:cNvPr id="156" name="Les 20 articles qui ont générés le plus de CA"/>
          <p:cNvSpPr txBox="1"/>
          <p:nvPr/>
        </p:nvSpPr>
        <p:spPr>
          <a:xfrm>
            <a:off x="127000" y="1529076"/>
            <a:ext cx="2801608" cy="253049"/>
          </a:xfrm>
          <a:prstGeom prst="rect">
            <a:avLst/>
          </a:prstGeom>
          <a:solidFill>
            <a:schemeClr val="accent2">
              <a:lumOff val="-2588"/>
            </a:schemeClr>
          </a:solidFill>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Les 20 articles qui ont générés le plus de CA</a:t>
            </a:r>
          </a:p>
        </p:txBody>
      </p:sp>
      <p:sp>
        <p:nvSpPr>
          <p:cNvPr id="157" name="Champagne 45%…"/>
          <p:cNvSpPr txBox="1"/>
          <p:nvPr/>
        </p:nvSpPr>
        <p:spPr>
          <a:xfrm>
            <a:off x="5155825" y="2571750"/>
            <a:ext cx="1428217" cy="734697"/>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a:solidFill>
                  <a:srgbClr val="FFFFFF"/>
                </a:solidFill>
              </a:defRPr>
            </a:pPr>
            <a:r>
              <a:t>Champagne 45%</a:t>
            </a:r>
          </a:p>
          <a:p>
            <a:pPr>
              <a:defRPr>
                <a:solidFill>
                  <a:srgbClr val="FFFFFF"/>
                </a:solidFill>
              </a:defRPr>
            </a:pPr>
            <a:r>
              <a:t>Vins 45%</a:t>
            </a:r>
          </a:p>
          <a:p>
            <a:pPr>
              <a:defRPr>
                <a:solidFill>
                  <a:srgbClr val="FFFFFF"/>
                </a:solidFill>
              </a:defRPr>
            </a:pPr>
            <a:r>
              <a:t>Cognac 10%</a:t>
            </a:r>
          </a:p>
        </p:txBody>
      </p:sp>
      <p:sp>
        <p:nvSpPr>
          <p:cNvPr id="158" name="80% du CA est réalisé par 61% (434) des articles du catalogue"/>
          <p:cNvSpPr txBox="1"/>
          <p:nvPr/>
        </p:nvSpPr>
        <p:spPr>
          <a:xfrm>
            <a:off x="4740017" y="2749550"/>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80% du CA est réalisé par 61% (434) des articles du catalogue</a:t>
            </a:r>
          </a:p>
        </p:txBody>
      </p:sp>
      <p:sp>
        <p:nvSpPr>
          <p:cNvPr id="159" name="Notre champagne le plus cher en tête de ce top 20"/>
          <p:cNvSpPr txBox="1"/>
          <p:nvPr/>
        </p:nvSpPr>
        <p:spPr>
          <a:xfrm>
            <a:off x="4740017" y="3474084"/>
            <a:ext cx="4280287" cy="3028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Notre champagne le plus cher en tête de ce top 20</a:t>
            </a:r>
          </a:p>
        </p:txBody>
      </p:sp>
      <p:sp>
        <p:nvSpPr>
          <p:cNvPr id="160" name="Champagne 45%…"/>
          <p:cNvSpPr txBox="1"/>
          <p:nvPr/>
        </p:nvSpPr>
        <p:spPr>
          <a:xfrm>
            <a:off x="127000" y="1782124"/>
            <a:ext cx="1186951" cy="5832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just">
              <a:defRPr sz="1100">
                <a:solidFill>
                  <a:srgbClr val="FFFFFF"/>
                </a:solidFill>
              </a:defRPr>
            </a:pPr>
            <a:r>
              <a:t>Champagne 45%</a:t>
            </a:r>
          </a:p>
          <a:p>
            <a:pPr algn="just">
              <a:defRPr sz="1100">
                <a:solidFill>
                  <a:srgbClr val="FFFFFF"/>
                </a:solidFill>
              </a:defRPr>
            </a:pPr>
            <a:r>
              <a:t>Vins 45%</a:t>
            </a:r>
          </a:p>
          <a:p>
            <a:pPr algn="just">
              <a:defRPr sz="1100">
                <a:solidFill>
                  <a:srgbClr val="FFFFFF"/>
                </a:solidFill>
              </a:defRPr>
            </a:pPr>
            <a:r>
              <a:t>Cognac 10%</a:t>
            </a:r>
          </a:p>
        </p:txBody>
      </p:sp>
      <p:sp>
        <p:nvSpPr>
          <p:cNvPr id="161" name="Prix de vente moyen des articles qui représentent 80% du CA 39 €"/>
          <p:cNvSpPr txBox="1"/>
          <p:nvPr/>
        </p:nvSpPr>
        <p:spPr>
          <a:xfrm>
            <a:off x="4740017" y="3982719"/>
            <a:ext cx="4280288"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Prix de vente moyen des articles qui représentent 80% du CA 39 €  </a:t>
            </a:r>
          </a:p>
        </p:txBody>
      </p:sp>
      <p:sp>
        <p:nvSpPr>
          <p:cNvPr id="162" name="Bénéfice brut réalisé 68 607 €"/>
          <p:cNvSpPr txBox="1"/>
          <p:nvPr/>
        </p:nvSpPr>
        <p:spPr>
          <a:xfrm>
            <a:off x="4740017" y="4707253"/>
            <a:ext cx="4280288" cy="3028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Bénéfice brut réalisé 68 607 €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4" name="newplot (3).png" descr="newplot (3).png"/>
          <p:cNvPicPr>
            <a:picLocks noChangeAspect="0"/>
          </p:cNvPicPr>
          <p:nvPr/>
        </p:nvPicPr>
        <p:blipFill>
          <a:blip r:embed="rId2">
            <a:extLst/>
          </a:blip>
          <a:stretch>
            <a:fillRect/>
          </a:stretch>
        </p:blipFill>
        <p:spPr>
          <a:xfrm>
            <a:off x="127000" y="1511300"/>
            <a:ext cx="4356100" cy="3505200"/>
          </a:xfrm>
          <a:prstGeom prst="rect">
            <a:avLst/>
          </a:prstGeom>
          <a:ln w="12700">
            <a:miter lim="400000"/>
          </a:ln>
        </p:spPr>
      </p:pic>
      <p:sp>
        <p:nvSpPr>
          <p:cNvPr id="165"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66" name="Google Shape;88;p7"/>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nSpc>
                <a:spcPct val="80000"/>
              </a:lnSpc>
              <a:defRPr sz="2500">
                <a:solidFill>
                  <a:srgbClr val="F3F3F3"/>
                </a:solidFill>
              </a:defRPr>
            </a:lvl1pPr>
          </a:lstStyle>
          <a:p>
            <a:pPr/>
            <a:r>
              <a:t>Analyse des ventes en quantité</a:t>
            </a:r>
          </a:p>
        </p:txBody>
      </p:sp>
      <p:sp>
        <p:nvSpPr>
          <p:cNvPr id="167"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68" name="20 articles les plus vendus en quantité"/>
          <p:cNvSpPr txBox="1"/>
          <p:nvPr/>
        </p:nvSpPr>
        <p:spPr>
          <a:xfrm>
            <a:off x="127000" y="1511300"/>
            <a:ext cx="2801608" cy="253049"/>
          </a:xfrm>
          <a:prstGeom prst="rect">
            <a:avLst/>
          </a:prstGeom>
          <a:solidFill>
            <a:schemeClr val="accent2">
              <a:lumOff val="-2588"/>
            </a:schemeClr>
          </a:solidFill>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20 articles les plus vendus en quantité</a:t>
            </a:r>
          </a:p>
        </p:txBody>
      </p:sp>
      <p:sp>
        <p:nvSpPr>
          <p:cNvPr id="169" name="Nombre total d’articles vendus 5751"/>
          <p:cNvSpPr/>
          <p:nvPr/>
        </p:nvSpPr>
        <p:spPr>
          <a:xfrm>
            <a:off x="4775200" y="1524000"/>
            <a:ext cx="4254500" cy="655248"/>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sz="1800">
                <a:solidFill>
                  <a:srgbClr val="1E4C40"/>
                </a:solidFill>
              </a:defRPr>
            </a:lvl1pPr>
          </a:lstStyle>
          <a:p>
            <a:pPr/>
            <a:r>
              <a:t>Nombre total d’articles vendus 5751</a:t>
            </a:r>
          </a:p>
        </p:txBody>
      </p:sp>
      <p:sp>
        <p:nvSpPr>
          <p:cNvPr id="170" name="Vins 100%"/>
          <p:cNvSpPr txBox="1"/>
          <p:nvPr/>
        </p:nvSpPr>
        <p:spPr>
          <a:xfrm>
            <a:off x="3199716" y="1511300"/>
            <a:ext cx="770392" cy="25304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Vins 100%</a:t>
            </a:r>
          </a:p>
        </p:txBody>
      </p:sp>
      <p:sp>
        <p:nvSpPr>
          <p:cNvPr id="171" name="80% du volume est réalisé par 60,5% (433) des articles du catalogue"/>
          <p:cNvSpPr txBox="1"/>
          <p:nvPr/>
        </p:nvSpPr>
        <p:spPr>
          <a:xfrm>
            <a:off x="4740017" y="2749550"/>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80% du volume est réalisé par 60,5% (433) des articles du catalogue</a:t>
            </a:r>
          </a:p>
        </p:txBody>
      </p:sp>
      <p:sp>
        <p:nvSpPr>
          <p:cNvPr id="172" name="Article le plus vendu…"/>
          <p:cNvSpPr txBox="1"/>
          <p:nvPr/>
        </p:nvSpPr>
        <p:spPr>
          <a:xfrm>
            <a:off x="4740017" y="3622251"/>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Article le plus vendu</a:t>
            </a:r>
          </a:p>
          <a:p>
            <a:pPr algn="ctr"/>
            <a:r>
              <a:t>Chateau de la selve rosé 2019</a:t>
            </a:r>
          </a:p>
        </p:txBody>
      </p:sp>
      <p:sp>
        <p:nvSpPr>
          <p:cNvPr id="173" name="Quantité vendue moyenne des articles qui représentent 80% du volume: 11"/>
          <p:cNvSpPr txBox="1"/>
          <p:nvPr/>
        </p:nvSpPr>
        <p:spPr>
          <a:xfrm>
            <a:off x="4740017" y="4494952"/>
            <a:ext cx="4280288"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Quantité vendue moyenne des articles qui représentent 80% du volume: 11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5" name="newplot (4).png" descr="newplot (4).png"/>
          <p:cNvPicPr>
            <a:picLocks noChangeAspect="0"/>
          </p:cNvPicPr>
          <p:nvPr/>
        </p:nvPicPr>
        <p:blipFill>
          <a:blip r:embed="rId2">
            <a:extLst/>
          </a:blip>
          <a:stretch>
            <a:fillRect/>
          </a:stretch>
        </p:blipFill>
        <p:spPr>
          <a:xfrm>
            <a:off x="127000" y="1511300"/>
            <a:ext cx="4356100" cy="3505200"/>
          </a:xfrm>
          <a:prstGeom prst="rect">
            <a:avLst/>
          </a:prstGeom>
          <a:ln w="12700">
            <a:miter lim="400000"/>
          </a:ln>
        </p:spPr>
      </p:pic>
      <p:sp>
        <p:nvSpPr>
          <p:cNvPr id="176"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77" name="Google Shape;88;p7"/>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nSpc>
                <a:spcPct val="80000"/>
              </a:lnSpc>
              <a:defRPr sz="2500">
                <a:solidFill>
                  <a:srgbClr val="F3F3F3"/>
                </a:solidFill>
              </a:defRPr>
            </a:lvl1pPr>
          </a:lstStyle>
          <a:p>
            <a:pPr/>
            <a:r>
              <a:t>Analyse des stocks</a:t>
            </a:r>
          </a:p>
        </p:txBody>
      </p:sp>
      <p:sp>
        <p:nvSpPr>
          <p:cNvPr id="178"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79" name="Quantité totale d’articles en stock 16 740…"/>
          <p:cNvSpPr/>
          <p:nvPr/>
        </p:nvSpPr>
        <p:spPr>
          <a:xfrm>
            <a:off x="4749800" y="1524000"/>
            <a:ext cx="4254500" cy="1019812"/>
          </a:xfrm>
          <a:prstGeom prst="roundRect">
            <a:avLst>
              <a:gd name="adj" fmla="val 18680"/>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p>
            <a:pPr algn="ctr">
              <a:defRPr sz="1800">
                <a:solidFill>
                  <a:srgbClr val="1E4C40"/>
                </a:solidFill>
              </a:defRPr>
            </a:pPr>
            <a:r>
              <a:t>Quantité totale d’articles en stock 16 740</a:t>
            </a:r>
          </a:p>
          <a:p>
            <a:pPr algn="ctr">
              <a:defRPr sz="1800">
                <a:solidFill>
                  <a:srgbClr val="1E4C40"/>
                </a:solidFill>
              </a:defRPr>
            </a:pPr>
            <a:r>
              <a:t>Valeur du stock (prix d’achat) 277 328 €</a:t>
            </a:r>
          </a:p>
        </p:txBody>
      </p:sp>
      <p:sp>
        <p:nvSpPr>
          <p:cNvPr id="180" name="20 articles ont 15 mois ou plus de stock"/>
          <p:cNvSpPr txBox="1"/>
          <p:nvPr/>
        </p:nvSpPr>
        <p:spPr>
          <a:xfrm>
            <a:off x="4740017" y="2749550"/>
            <a:ext cx="4280287" cy="3028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20 articles ont 15 mois ou plus de stock</a:t>
            </a:r>
          </a:p>
        </p:txBody>
      </p:sp>
      <p:sp>
        <p:nvSpPr>
          <p:cNvPr id="181" name="Plus de 30 mois de stock pour le champagne Gosset 2006"/>
          <p:cNvSpPr txBox="1"/>
          <p:nvPr/>
        </p:nvSpPr>
        <p:spPr>
          <a:xfrm>
            <a:off x="4740017" y="3258184"/>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Plus de 30 mois de stock pour le champagne Gosset 2006</a:t>
            </a:r>
          </a:p>
        </p:txBody>
      </p:sp>
      <p:sp>
        <p:nvSpPr>
          <p:cNvPr id="182" name="177 Articles ont plus de 3 mois de stock, soit 26,5% des articles stockés"/>
          <p:cNvSpPr txBox="1"/>
          <p:nvPr/>
        </p:nvSpPr>
        <p:spPr>
          <a:xfrm>
            <a:off x="4740017" y="3874769"/>
            <a:ext cx="4280288"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177 Articles ont plus de 3 mois de stock, soit 26,5% des articles stockés</a:t>
            </a:r>
          </a:p>
        </p:txBody>
      </p:sp>
      <p:sp>
        <p:nvSpPr>
          <p:cNvPr id="183" name="Valorisation marchande des articles qui ont plus de 3 mois de stock 277 883 € (valeur financière 157 866 €)"/>
          <p:cNvSpPr txBox="1"/>
          <p:nvPr/>
        </p:nvSpPr>
        <p:spPr>
          <a:xfrm>
            <a:off x="4740017" y="4491353"/>
            <a:ext cx="4280288"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Valorisation marchande des articles qui ont plus de 3 mois de stock 277 883 € (valeur financière 157 866 €)</a:t>
            </a:r>
          </a:p>
        </p:txBody>
      </p:sp>
      <p:sp>
        <p:nvSpPr>
          <p:cNvPr id="184" name="20 articles qui ont le plus de mois de stock"/>
          <p:cNvSpPr txBox="1"/>
          <p:nvPr/>
        </p:nvSpPr>
        <p:spPr>
          <a:xfrm>
            <a:off x="127000" y="1517107"/>
            <a:ext cx="2801608" cy="253049"/>
          </a:xfrm>
          <a:prstGeom prst="rect">
            <a:avLst/>
          </a:prstGeom>
          <a:solidFill>
            <a:schemeClr val="accent2">
              <a:lumOff val="-2588"/>
            </a:schemeClr>
          </a:solidFill>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20 articles qui ont le plus de mois de stock</a:t>
            </a:r>
          </a:p>
        </p:txBody>
      </p:sp>
      <p:sp>
        <p:nvSpPr>
          <p:cNvPr id="185" name="Champagne 90%…"/>
          <p:cNvSpPr txBox="1"/>
          <p:nvPr/>
        </p:nvSpPr>
        <p:spPr>
          <a:xfrm>
            <a:off x="268159" y="4491353"/>
            <a:ext cx="1196716" cy="4181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100">
                <a:solidFill>
                  <a:srgbClr val="FFFFFF"/>
                </a:solidFill>
              </a:defRPr>
            </a:pPr>
            <a:r>
              <a:t>Champagne 90%</a:t>
            </a:r>
          </a:p>
          <a:p>
            <a:pPr algn="just">
              <a:defRPr sz="1100">
                <a:solidFill>
                  <a:srgbClr val="FFFFFF"/>
                </a:solidFill>
              </a:defRPr>
            </a:pPr>
            <a:r>
              <a:t>Vins 10%</a:t>
            </a:r>
          </a:p>
        </p:txBody>
      </p:sp>
      <p:sp>
        <p:nvSpPr>
          <p:cNvPr id="186" name="Bon à savoir: 5 de ces articles se trouvent parmi les 20 articles générant le plus de chiffre d’affaire!"/>
          <p:cNvSpPr txBox="1"/>
          <p:nvPr/>
        </p:nvSpPr>
        <p:spPr>
          <a:xfrm>
            <a:off x="4600063" y="414525"/>
            <a:ext cx="4416937" cy="418150"/>
          </a:xfrm>
          <a:prstGeom prst="rect">
            <a:avLst/>
          </a:prstGeom>
          <a:solidFill>
            <a:srgbClr val="1F4C40"/>
          </a:solidFill>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Bon à savoir: 5 de ces articles se trouvent parmi les 20 articles générant le plus de chiffre d’affaire! </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8" name="newplot (5).png" descr="newplot (5).png"/>
          <p:cNvPicPr>
            <a:picLocks noChangeAspect="0"/>
          </p:cNvPicPr>
          <p:nvPr/>
        </p:nvPicPr>
        <p:blipFill>
          <a:blip r:embed="rId2">
            <a:extLst/>
          </a:blip>
          <a:stretch>
            <a:fillRect/>
          </a:stretch>
        </p:blipFill>
        <p:spPr>
          <a:xfrm>
            <a:off x="127000" y="1511300"/>
            <a:ext cx="4356100" cy="3492500"/>
          </a:xfrm>
          <a:prstGeom prst="rect">
            <a:avLst/>
          </a:prstGeom>
          <a:ln w="12700">
            <a:miter lim="400000"/>
          </a:ln>
        </p:spPr>
      </p:pic>
      <p:sp>
        <p:nvSpPr>
          <p:cNvPr id="189"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190" name="Google Shape;88;p7"/>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lnSpc>
                <a:spcPct val="80000"/>
              </a:lnSpc>
              <a:defRPr sz="2500">
                <a:solidFill>
                  <a:srgbClr val="F3F3F3"/>
                </a:solidFill>
              </a:defRPr>
            </a:lvl1pPr>
          </a:lstStyle>
          <a:p>
            <a:pPr/>
            <a:r>
              <a:t>Analyse du taux de marge</a:t>
            </a:r>
          </a:p>
        </p:txBody>
      </p:sp>
      <p:sp>
        <p:nvSpPr>
          <p:cNvPr id="191"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192" name="Taux de marge moyen par catégorie"/>
          <p:cNvSpPr txBox="1"/>
          <p:nvPr/>
        </p:nvSpPr>
        <p:spPr>
          <a:xfrm>
            <a:off x="127000" y="1519265"/>
            <a:ext cx="2801608" cy="253049"/>
          </a:xfrm>
          <a:prstGeom prst="rect">
            <a:avLst/>
          </a:prstGeom>
          <a:solidFill>
            <a:schemeClr val="accent2">
              <a:lumOff val="-2588"/>
            </a:schemeClr>
          </a:solidFill>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sz="1100">
                <a:solidFill>
                  <a:srgbClr val="FFFFFF"/>
                </a:solidFill>
              </a:defRPr>
            </a:lvl1pPr>
          </a:lstStyle>
          <a:p>
            <a:pPr/>
            <a:r>
              <a:t>Taux de marge moyen par catégorie</a:t>
            </a:r>
          </a:p>
        </p:txBody>
      </p:sp>
      <p:sp>
        <p:nvSpPr>
          <p:cNvPr id="193" name="Taux de marge global 60,3%"/>
          <p:cNvSpPr/>
          <p:nvPr/>
        </p:nvSpPr>
        <p:spPr>
          <a:xfrm>
            <a:off x="4749800" y="1524000"/>
            <a:ext cx="4254500" cy="655248"/>
          </a:xfrm>
          <a:prstGeom prst="roundRect">
            <a:avLst>
              <a:gd name="adj" fmla="val 29073"/>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sz="1800">
                <a:solidFill>
                  <a:srgbClr val="1E4C40"/>
                </a:solidFill>
              </a:defRPr>
            </a:lvl1pPr>
          </a:lstStyle>
          <a:p>
            <a:pPr/>
            <a:r>
              <a:t>Taux de marge global 60,3%</a:t>
            </a:r>
          </a:p>
        </p:txBody>
      </p:sp>
      <p:sp>
        <p:nvSpPr>
          <p:cNvPr id="194" name="Les cognac et les whisky affichent plus de 80% de taux de marge"/>
          <p:cNvSpPr txBox="1"/>
          <p:nvPr/>
        </p:nvSpPr>
        <p:spPr>
          <a:xfrm>
            <a:off x="4740017" y="2749550"/>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Les cognac et les whisky affichent plus de 80% de taux de marge</a:t>
            </a:r>
          </a:p>
        </p:txBody>
      </p:sp>
      <p:sp>
        <p:nvSpPr>
          <p:cNvPr id="195" name="L’huile d’olive et les champagnes sont les moins rentables"/>
          <p:cNvSpPr txBox="1"/>
          <p:nvPr/>
        </p:nvSpPr>
        <p:spPr>
          <a:xfrm>
            <a:off x="4740017" y="3330151"/>
            <a:ext cx="4280287"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L’huile d’olive et les champagnes sont les moins rentables</a:t>
            </a:r>
          </a:p>
        </p:txBody>
      </p:sp>
      <p:sp>
        <p:nvSpPr>
          <p:cNvPr id="196" name="Un champagne présente un taux de marge négatif"/>
          <p:cNvSpPr txBox="1"/>
          <p:nvPr/>
        </p:nvSpPr>
        <p:spPr>
          <a:xfrm>
            <a:off x="4740017" y="4018702"/>
            <a:ext cx="4280288" cy="3028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stStyle>
          <a:p>
            <a:pPr/>
            <a:r>
              <a:t>Un champagne présente un taux de marge négatif</a:t>
            </a:r>
          </a:p>
        </p:txBody>
      </p:sp>
      <p:sp>
        <p:nvSpPr>
          <p:cNvPr id="197" name="Taux de marge mini 29,5%…"/>
          <p:cNvSpPr txBox="1"/>
          <p:nvPr/>
        </p:nvSpPr>
        <p:spPr>
          <a:xfrm>
            <a:off x="4740017" y="4491353"/>
            <a:ext cx="4280288" cy="51879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r>
              <a:t>Taux de marge mini 29,5%</a:t>
            </a:r>
          </a:p>
          <a:p>
            <a:pPr algn="ctr"/>
            <a:r>
              <a:t>Taux de marge maxi 91,4%</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200" name="Google Shape;88;p7"/>
          <p:cNvSpPr txBox="1"/>
          <p:nvPr/>
        </p:nvSpPr>
        <p:spPr>
          <a:xfrm>
            <a:off x="895524" y="337250"/>
            <a:ext cx="7679735" cy="6813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defTabSz="694944">
              <a:lnSpc>
                <a:spcPct val="80000"/>
              </a:lnSpc>
              <a:defRPr sz="1900">
                <a:solidFill>
                  <a:srgbClr val="F3F3F3"/>
                </a:solidFill>
              </a:defRPr>
            </a:lvl1pPr>
          </a:lstStyle>
          <a:p>
            <a:pPr/>
            <a:r>
              <a:t>Existe t’il une corrélation entre les prix, le nombre de ventes et les quantités stockées? </a:t>
            </a:r>
          </a:p>
        </p:txBody>
      </p:sp>
      <p:sp>
        <p:nvSpPr>
          <p:cNvPr id="201"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pic>
        <p:nvPicPr>
          <p:cNvPr id="202" name="vidéo-collée.png" descr="vidéo-collée.png"/>
          <p:cNvPicPr>
            <a:picLocks noChangeAspect="1"/>
          </p:cNvPicPr>
          <p:nvPr/>
        </p:nvPicPr>
        <p:blipFill>
          <a:blip r:embed="rId2">
            <a:extLst/>
          </a:blip>
          <a:stretch>
            <a:fillRect/>
          </a:stretch>
        </p:blipFill>
        <p:spPr>
          <a:xfrm>
            <a:off x="127717" y="1532173"/>
            <a:ext cx="4381501" cy="3479821"/>
          </a:xfrm>
          <a:prstGeom prst="rect">
            <a:avLst/>
          </a:prstGeom>
          <a:ln w="12700">
            <a:miter lim="400000"/>
          </a:ln>
        </p:spPr>
      </p:pic>
      <p:sp>
        <p:nvSpPr>
          <p:cNvPr id="203" name="Relation entre…"/>
          <p:cNvSpPr/>
          <p:nvPr/>
        </p:nvSpPr>
        <p:spPr>
          <a:xfrm>
            <a:off x="4748091" y="2688953"/>
            <a:ext cx="4253534" cy="1166260"/>
          </a:xfrm>
          <a:prstGeom prst="roundRect">
            <a:avLst>
              <a:gd name="adj" fmla="val 16334"/>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lstStyle/>
          <a:p>
            <a:pPr>
              <a:defRPr sz="1800">
                <a:solidFill>
                  <a:srgbClr val="1E4C40"/>
                </a:solidFill>
              </a:defRPr>
            </a:pPr>
            <a:r>
              <a:t>Relation entre </a:t>
            </a:r>
          </a:p>
          <a:p>
            <a:pPr>
              <a:defRPr sz="1800">
                <a:solidFill>
                  <a:srgbClr val="1E4C40"/>
                </a:solidFill>
              </a:defRPr>
            </a:pPr>
            <a:r>
              <a:t> - </a:t>
            </a:r>
            <a:r>
              <a:rPr sz="1400"/>
              <a:t>prix de vente et nombre de vente: faible</a:t>
            </a:r>
            <a:endParaRPr sz="1400"/>
          </a:p>
          <a:p>
            <a:pPr>
              <a:defRPr sz="1800">
                <a:solidFill>
                  <a:srgbClr val="1E4C40"/>
                </a:solidFill>
              </a:defRPr>
            </a:pPr>
            <a:r>
              <a:rPr sz="1400"/>
              <a:t> - prix de vente et quantité en stock: aucune</a:t>
            </a:r>
            <a:endParaRPr sz="1400"/>
          </a:p>
          <a:p>
            <a:pPr>
              <a:defRPr sz="1800">
                <a:solidFill>
                  <a:srgbClr val="1E4C40"/>
                </a:solidFill>
              </a:defRPr>
            </a:pPr>
            <a:r>
              <a:rPr sz="1400"/>
              <a:t> - nombre de ventes et quantité en stock: faible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Google Shape;87;p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206" name="Google Shape;88;p7"/>
          <p:cNvSpPr txBox="1"/>
          <p:nvPr/>
        </p:nvSpPr>
        <p:spPr>
          <a:xfrm>
            <a:off x="895524" y="337250"/>
            <a:ext cx="7679735" cy="6813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defTabSz="694944">
              <a:lnSpc>
                <a:spcPct val="80000"/>
              </a:lnSpc>
              <a:defRPr sz="1900">
                <a:solidFill>
                  <a:srgbClr val="F3F3F3"/>
                </a:solidFill>
              </a:defRPr>
            </a:pPr>
            <a:r>
              <a:t>Existe t’il une corrélation entre le prix d’achat, </a:t>
            </a:r>
          </a:p>
          <a:p>
            <a:pPr defTabSz="694944">
              <a:lnSpc>
                <a:spcPct val="80000"/>
              </a:lnSpc>
              <a:defRPr sz="1900">
                <a:solidFill>
                  <a:srgbClr val="F3F3F3"/>
                </a:solidFill>
              </a:defRPr>
            </a:pPr>
            <a:r>
              <a:t>le prix de vente et le taux de marge? </a:t>
            </a:r>
          </a:p>
        </p:txBody>
      </p:sp>
      <p:sp>
        <p:nvSpPr>
          <p:cNvPr id="207" name="Google Shape;89;p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208" name="Il y a une forte corrélation entre le prix d’achat et le prix de vente, mais aucune entre ces prix et le taux de marge"/>
          <p:cNvSpPr/>
          <p:nvPr/>
        </p:nvSpPr>
        <p:spPr>
          <a:xfrm>
            <a:off x="4748091" y="2619531"/>
            <a:ext cx="3966838" cy="1280139"/>
          </a:xfrm>
          <a:prstGeom prst="roundRect">
            <a:avLst>
              <a:gd name="adj" fmla="val 14881"/>
            </a:avLst>
          </a:prstGeom>
          <a:solidFill>
            <a:srgbClr val="FFFFFF"/>
          </a:solidFill>
          <a:ln w="25400">
            <a:solidFill>
              <a:srgbClr val="1E4C40"/>
            </a:solidFill>
          </a:ln>
          <a:extLst>
            <a:ext uri="{C572A759-6A51-4108-AA02-DFA0A04FC94B}">
              <ma14:wrappingTextBoxFlag xmlns:ma14="http://schemas.microsoft.com/office/mac/drawingml/2011/main" val="1"/>
            </a:ext>
          </a:extLst>
        </p:spPr>
        <p:txBody>
          <a:bodyPr lIns="45719" rIns="45719" anchor="ctr"/>
          <a:lstStyle>
            <a:lvl1pPr algn="ctr">
              <a:defRPr sz="1800">
                <a:solidFill>
                  <a:srgbClr val="1E4C40"/>
                </a:solidFill>
              </a:defRPr>
            </a:lvl1pPr>
          </a:lstStyle>
          <a:p>
            <a:pPr/>
            <a:r>
              <a:t>Il y a une forte corrélation entre le prix d’achat et le prix de vente, mais aucune entre ces prix et le taux de marge</a:t>
            </a:r>
          </a:p>
        </p:txBody>
      </p:sp>
      <p:pic>
        <p:nvPicPr>
          <p:cNvPr id="209" name="vidéo-collée.png" descr="vidéo-collée.png"/>
          <p:cNvPicPr>
            <a:picLocks noChangeAspect="1"/>
          </p:cNvPicPr>
          <p:nvPr/>
        </p:nvPicPr>
        <p:blipFill>
          <a:blip r:embed="rId2">
            <a:extLst/>
          </a:blip>
          <a:stretch>
            <a:fillRect/>
          </a:stretch>
        </p:blipFill>
        <p:spPr>
          <a:xfrm>
            <a:off x="121802" y="1510410"/>
            <a:ext cx="4318001" cy="349838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1" name="Google Shape;95;g13f9e8f1567_0_0"/>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212" name="Google Shape;96;g13f9e8f1567_0_0"/>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Actions pour la suite</a:t>
            </a:r>
          </a:p>
        </p:txBody>
      </p:sp>
      <p:sp>
        <p:nvSpPr>
          <p:cNvPr id="213" name="Google Shape;97;g13f9e8f1567_0_0"/>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214" name="Google Shape;98;g13f9e8f1567_0_0"/>
          <p:cNvSpPr txBox="1"/>
          <p:nvPr>
            <p:ph type="body" idx="1"/>
          </p:nvPr>
        </p:nvSpPr>
        <p:spPr>
          <a:xfrm>
            <a:off x="126402" y="1508064"/>
            <a:ext cx="8891196" cy="3501774"/>
          </a:xfrm>
          <a:prstGeom prst="rect">
            <a:avLst/>
          </a:prstGeom>
        </p:spPr>
        <p:txBody>
          <a:bodyPr lIns="63500" tIns="63500" rIns="63500" bIns="63500"/>
          <a:lstStyle/>
          <a:p>
            <a:pPr marL="0" indent="0" defTabSz="804672">
              <a:buSzTx/>
              <a:buNone/>
              <a:defRPr i="1" sz="1584">
                <a:solidFill>
                  <a:srgbClr val="999999"/>
                </a:solidFill>
              </a:defRPr>
            </a:pPr>
            <a:r>
              <a:t>Réflexion sur les prix</a:t>
            </a:r>
          </a:p>
          <a:p>
            <a:pPr marL="223520" indent="-111760" defTabSz="804672">
              <a:buSzTx/>
              <a:buNone/>
              <a:defRPr i="1" sz="1232">
                <a:solidFill>
                  <a:srgbClr val="999999"/>
                </a:solidFill>
              </a:defRPr>
            </a:pPr>
            <a:r>
              <a:t>Grande dispersion des prix</a:t>
            </a:r>
          </a:p>
          <a:p>
            <a:pPr marL="223520" indent="-111760" defTabSz="804672">
              <a:buSzTx/>
              <a:buNone/>
              <a:defRPr i="1" sz="1232">
                <a:solidFill>
                  <a:srgbClr val="999999"/>
                </a:solidFill>
              </a:defRPr>
            </a:pPr>
            <a:r>
              <a:t>Prix de vente indexé sur le prix d’achat ➙ indexation sur le taux de marge et les quantités en stock?</a:t>
            </a:r>
          </a:p>
          <a:p>
            <a:pPr marL="223520" indent="-111760" defTabSz="804672">
              <a:buSzTx/>
              <a:buNone/>
              <a:defRPr i="1" sz="1232">
                <a:solidFill>
                  <a:srgbClr val="999999"/>
                </a:solidFill>
              </a:defRPr>
            </a:pPr>
            <a:r>
              <a:t>61% de nos produits représentent 80% de notre CA et de notre volume de vente ➙ Quid des 39% restants?</a:t>
            </a:r>
          </a:p>
          <a:p>
            <a:pPr marL="223520" indent="-111760" defTabSz="804672">
              <a:buSzTx/>
              <a:buNone/>
              <a:defRPr i="1" sz="1232">
                <a:solidFill>
                  <a:srgbClr val="999999"/>
                </a:solidFill>
              </a:defRPr>
            </a:pPr>
            <a:r>
              <a:t>Le taux de marge est globalement correct bien que certains taux de marge soient faibles. Les taux de marge sont extrêmement dispersés ( entre 29% et 91%). Une harmonisation est peut-être nécessaire</a:t>
            </a:r>
          </a:p>
          <a:p>
            <a:pPr marL="0" indent="0" defTabSz="804672">
              <a:buSzTx/>
              <a:buNone/>
              <a:defRPr i="1" sz="1584">
                <a:solidFill>
                  <a:srgbClr val="999999"/>
                </a:solidFill>
              </a:defRPr>
            </a:pPr>
            <a:r>
              <a:t>Reflexion sur les stocks</a:t>
            </a:r>
          </a:p>
          <a:p>
            <a:pPr marL="223520" indent="-111760" defTabSz="804672">
              <a:buSzTx/>
              <a:buNone/>
              <a:defRPr i="1" sz="1232">
                <a:solidFill>
                  <a:srgbClr val="999999"/>
                </a:solidFill>
              </a:defRPr>
            </a:pPr>
            <a:r>
              <a:t> Énormément d’articles en stock générant une forte trésorerie</a:t>
            </a:r>
          </a:p>
          <a:p>
            <a:pPr marL="223520" indent="-111760" defTabSz="804672">
              <a:buSzTx/>
              <a:buNone/>
              <a:defRPr i="1" sz="1232">
                <a:solidFill>
                  <a:srgbClr val="999999"/>
                </a:solidFill>
              </a:defRPr>
            </a:pPr>
            <a:r>
              <a:t>Revoir la gestion des stocks. 26% des articles ont plus de 3 mois de stock, certains plus d’un an de stock ➙ indexer le stockage sur le nombre de vente en tenant compte de la nature des produits vendus (vieillissement bénéfique)</a:t>
            </a:r>
          </a:p>
          <a:p>
            <a:pPr marL="0" indent="0" defTabSz="804672">
              <a:buSzTx/>
              <a:buNone/>
              <a:defRPr i="1" sz="1584">
                <a:solidFill>
                  <a:srgbClr val="999999"/>
                </a:solidFill>
              </a:defRPr>
            </a:pPr>
            <a:r>
              <a:t>Réflexion sur les données</a:t>
            </a:r>
          </a:p>
          <a:p>
            <a:pPr marL="223520" indent="-111760" defTabSz="804672">
              <a:buSzTx/>
              <a:buNone/>
              <a:defRPr i="1" sz="1232">
                <a:solidFill>
                  <a:srgbClr val="999999"/>
                </a:solidFill>
              </a:defRPr>
            </a:pPr>
            <a:r>
              <a:t>Un gros travail doit être fait pour obtenir des données exploitables. De nombreuses données ont été perdues dans cette étude faute d’être utilisables. Je recommande la mise en place d’une base de données avec des contraintes sur les valeurs et des identifiants clairs pour chaque produit. </a:t>
            </a:r>
          </a:p>
          <a:p>
            <a:pPr marL="223520" indent="-111760" defTabSz="804672">
              <a:buSzTx/>
              <a:buNone/>
              <a:defRPr i="1" sz="1232">
                <a:solidFill>
                  <a:srgbClr val="999999"/>
                </a:solidFill>
              </a:defRPr>
            </a:pPr>
            <a:r>
              <a:t>Définir un identifiant sku pour chaque article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Google Shape;103;g13f9e8f1567_0_7"/>
          <p:cNvSpPr/>
          <p:nvPr/>
        </p:nvSpPr>
        <p:spPr>
          <a:xfrm>
            <a:off x="0" y="-1"/>
            <a:ext cx="9144000" cy="1390202"/>
          </a:xfrm>
          <a:prstGeom prst="rect">
            <a:avLst/>
          </a:prstGeom>
          <a:solidFill>
            <a:srgbClr val="004D40"/>
          </a:solidFill>
          <a:ln>
            <a:solidFill>
              <a:srgbClr val="FFFFFF"/>
            </a:solidFill>
          </a:ln>
        </p:spPr>
        <p:txBody>
          <a:bodyPr lIns="45719" rIns="45719" anchor="ctr"/>
          <a:lstStyle/>
          <a:p>
            <a:pPr/>
          </a:p>
        </p:txBody>
      </p:sp>
      <p:sp>
        <p:nvSpPr>
          <p:cNvPr id="217" name="Google Shape;104;g13f9e8f1567_0_7"/>
          <p:cNvSpPr txBox="1"/>
          <p:nvPr/>
        </p:nvSpPr>
        <p:spPr>
          <a:xfrm>
            <a:off x="895524" y="337250"/>
            <a:ext cx="8520602" cy="5727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lvl1pPr>
              <a:defRPr sz="2500">
                <a:solidFill>
                  <a:srgbClr val="F3F3F3"/>
                </a:solidFill>
              </a:defRPr>
            </a:lvl1pPr>
          </a:lstStyle>
          <a:p>
            <a:pPr/>
            <a:r>
              <a:t>Point sur les compétences apprises</a:t>
            </a:r>
          </a:p>
        </p:txBody>
      </p:sp>
      <p:sp>
        <p:nvSpPr>
          <p:cNvPr id="218" name="Google Shape;105;g13f9e8f1567_0_7"/>
          <p:cNvSpPr/>
          <p:nvPr/>
        </p:nvSpPr>
        <p:spPr>
          <a:xfrm>
            <a:off x="1012175" y="993350"/>
            <a:ext cx="452700" cy="50401"/>
          </a:xfrm>
          <a:prstGeom prst="rect">
            <a:avLst/>
          </a:prstGeom>
          <a:solidFill>
            <a:srgbClr val="F3F3F3"/>
          </a:solidFill>
          <a:ln w="12700">
            <a:miter lim="400000"/>
          </a:ln>
        </p:spPr>
        <p:txBody>
          <a:bodyPr lIns="45719" rIns="45719" anchor="ctr"/>
          <a:lstStyle/>
          <a:p>
            <a:pPr/>
          </a:p>
        </p:txBody>
      </p:sp>
      <p:sp>
        <p:nvSpPr>
          <p:cNvPr id="219" name="Google Shape;106;g13f9e8f1567_0_7"/>
          <p:cNvSpPr txBox="1"/>
          <p:nvPr>
            <p:ph type="body" idx="1"/>
          </p:nvPr>
        </p:nvSpPr>
        <p:spPr>
          <a:xfrm>
            <a:off x="557273" y="1528600"/>
            <a:ext cx="8316002" cy="3416401"/>
          </a:xfrm>
          <a:prstGeom prst="rect">
            <a:avLst/>
          </a:prstGeom>
        </p:spPr>
        <p:txBody>
          <a:bodyPr/>
          <a:lstStyle/>
          <a:p>
            <a:pPr>
              <a:buClr>
                <a:srgbClr val="999999"/>
              </a:buClr>
              <a:defRPr i="1">
                <a:solidFill>
                  <a:srgbClr val="999999"/>
                </a:solidFill>
              </a:defRPr>
            </a:pPr>
            <a:r>
              <a:t>Qu’est-ce qui s’est bien passé pour vous dans ce travail de nettoyage ?</a:t>
            </a:r>
          </a:p>
          <a:p>
            <a:pPr marL="0" indent="0">
              <a:buClrTx/>
              <a:buSzTx/>
              <a:buFontTx/>
              <a:buNone/>
              <a:defRPr i="1" sz="1400">
                <a:solidFill>
                  <a:srgbClr val="999999"/>
                </a:solidFill>
              </a:defRPr>
            </a:pPr>
            <a:r>
              <a:t>L’exploration des données, les modifications (prix, stock négatifs…), la suppression des lignes et de colonnes inutiles.</a:t>
            </a:r>
          </a:p>
          <a:p>
            <a:pPr>
              <a:buClr>
                <a:srgbClr val="999999"/>
              </a:buClr>
              <a:defRPr i="1">
                <a:solidFill>
                  <a:srgbClr val="999999"/>
                </a:solidFill>
              </a:defRPr>
            </a:pPr>
            <a:r>
              <a:t>Qu’est-ce que vous avez trouvé le plus difficile ?</a:t>
            </a:r>
          </a:p>
          <a:p>
            <a:pPr marL="0" indent="0">
              <a:buClrTx/>
              <a:buSzTx/>
              <a:buFontTx/>
              <a:buNone/>
              <a:defRPr i="1" sz="1400">
                <a:solidFill>
                  <a:srgbClr val="999999"/>
                </a:solidFill>
              </a:defRPr>
            </a:pPr>
            <a:r>
              <a:t>La recherche d’une logique dans sku, la prise de décision de l’élimination des lignes et des colonnes et décider que les outliers n’en étaient pas</a:t>
            </a:r>
          </a:p>
          <a:p>
            <a:pPr>
              <a:buClr>
                <a:srgbClr val="999999"/>
              </a:buClr>
              <a:defRPr i="1">
                <a:solidFill>
                  <a:srgbClr val="999999"/>
                </a:solidFill>
              </a:defRPr>
            </a:pPr>
            <a:r>
              <a:t>Sur quelles tâches est-ce que vous pensez avoir besoin de plus d'entraînement ?</a:t>
            </a:r>
          </a:p>
          <a:p>
            <a:pPr marL="0" indent="0">
              <a:buClrTx/>
              <a:buSzTx/>
              <a:buFontTx/>
              <a:buNone/>
              <a:defRPr i="1" sz="1400">
                <a:solidFill>
                  <a:srgbClr val="999999"/>
                </a:solidFill>
              </a:defRPr>
            </a:pPr>
            <a:r>
              <a:t>La création de graphiques, la connaissance métier et les statistiques</a:t>
            </a:r>
          </a:p>
          <a:p>
            <a:pPr>
              <a:buClr>
                <a:srgbClr val="999999"/>
              </a:buClr>
              <a:defRPr i="1">
                <a:solidFill>
                  <a:srgbClr val="999999"/>
                </a:solidFill>
              </a:defRPr>
            </a:pPr>
            <a:r>
              <a:t>Le côté business. </a:t>
            </a:r>
          </a:p>
          <a:p>
            <a:pPr marL="0" indent="0">
              <a:buClrTx/>
              <a:buSzTx/>
              <a:buFontTx/>
              <a:buNone/>
              <a:defRPr i="1" sz="1400">
                <a:solidFill>
                  <a:srgbClr val="999999"/>
                </a:solidFill>
              </a:defRPr>
            </a:pPr>
            <a:r>
              <a:t>Manque cruel de connaissance métier. </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Optima"/>
        <a:ea typeface="Optima"/>
        <a:cs typeface="Optima"/>
      </a:majorFont>
      <a:minorFont>
        <a:latin typeface="Optima"/>
        <a:ea typeface="Optima"/>
        <a:cs typeface="Optim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A7A7A7"/>
      </a:dk2>
      <a:lt2>
        <a:srgbClr val="535353"/>
      </a:lt2>
      <a:accent1>
        <a:srgbClr val="4285F4"/>
      </a:accent1>
      <a:accent2>
        <a:srgbClr val="212121"/>
      </a:accent2>
      <a:accent3>
        <a:srgbClr val="78909C"/>
      </a:accent3>
      <a:accent4>
        <a:srgbClr val="FFAB40"/>
      </a:accent4>
      <a:accent5>
        <a:srgbClr val="0097A7"/>
      </a:accent5>
      <a:accent6>
        <a:srgbClr val="EEFF41"/>
      </a:accent6>
      <a:hlink>
        <a:srgbClr val="0000FF"/>
      </a:hlink>
      <a:folHlink>
        <a:srgbClr val="FF00FF"/>
      </a:folHlink>
    </a:clrScheme>
    <a:fontScheme name="Simple Light">
      <a:majorFont>
        <a:latin typeface="Optima"/>
        <a:ea typeface="Optima"/>
        <a:cs typeface="Optima"/>
      </a:majorFont>
      <a:minorFont>
        <a:latin typeface="Optima"/>
        <a:ea typeface="Optima"/>
        <a:cs typeface="Optima"/>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Optim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